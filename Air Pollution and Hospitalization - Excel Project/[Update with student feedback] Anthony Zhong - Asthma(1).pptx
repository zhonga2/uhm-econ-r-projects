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1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82" r:id="rId20"/>
    <p:sldId id="274" r:id="rId21"/>
    <p:sldId id="275" r:id="rId22"/>
    <p:sldId id="276" r:id="rId23"/>
    <p:sldId id="277" r:id="rId24"/>
    <p:sldId id="278" r:id="rId25"/>
    <p:sldId id="279" r:id="rId26"/>
    <p:sldId id="281" r:id="rId27"/>
    <p:sldId id="280" r:id="rId28"/>
    <p:sldId id="283" r:id="rId29"/>
    <p:sldId id="284" r:id="rId30"/>
    <p:sldId id="285" r:id="rId31"/>
  </p:sldIdLst>
  <p:sldSz cx="9144000" cy="5143500" type="screen16x9"/>
  <p:notesSz cx="6858000" cy="9144000"/>
  <p:embeddedFontLst>
    <p:embeddedFont>
      <p:font typeface="Crimson Text" panose="020B0604020202020204" charset="0"/>
      <p:regular r:id="rId33"/>
      <p:bold r:id="rId34"/>
      <p:italic r:id="rId35"/>
      <p:boldItalic r:id="rId36"/>
    </p:embeddedFont>
    <p:embeddedFont>
      <p:font typeface="Josefin Sans" pitchFamily="2" charset="0"/>
      <p:regular r:id="rId37"/>
      <p:bold r:id="rId38"/>
    </p:embeddedFont>
    <p:embeddedFont>
      <p:font typeface="Lato" panose="020F0502020204030203" pitchFamily="34" charset="0"/>
      <p:regular r:id="rId39"/>
      <p:bold r:id="rId40"/>
      <p:italic r:id="rId41"/>
      <p:boldItalic r:id="rId42"/>
    </p:embeddedFont>
    <p:embeddedFont>
      <p:font typeface="Libre Baskerville" panose="02000000000000000000" pitchFamily="2" charset="0"/>
      <p:regular r:id="rId43"/>
      <p:bold r:id="rId44"/>
      <p:italic r:id="rId45"/>
      <p:boldItalic r:id="rId46"/>
    </p:embeddedFont>
    <p:embeddedFont>
      <p:font typeface="Mako" panose="020B0604020202020204" charset="0"/>
      <p:regular r:id="rId47"/>
    </p:embeddedFont>
    <p:embeddedFont>
      <p:font typeface="Merriweather Light" panose="00000400000000000000" pitchFamily="2" charset="0"/>
      <p:regular r:id="rId48"/>
      <p:bold r:id="rId49"/>
      <p:italic r:id="rId50"/>
      <p:boldItalic r:id="rId51"/>
    </p:embeddedFont>
    <p:embeddedFont>
      <p:font typeface="Montserrat" panose="00000500000000000000" pitchFamily="2" charset="0"/>
      <p:regular r:id="rId52"/>
      <p:bold r:id="rId53"/>
      <p:italic r:id="rId54"/>
      <p:boldItalic r:id="rId55"/>
    </p:embeddedFont>
    <p:embeddedFont>
      <p:font typeface="Open Sans" panose="020B0606030504020204" pitchFamily="34" charset="0"/>
      <p:regular r:id="rId56"/>
      <p:bold r:id="rId57"/>
      <p:italic r:id="rId58"/>
      <p:boldItalic r:id="rId59"/>
    </p:embeddedFont>
    <p:embeddedFont>
      <p:font typeface="Open Sans SemiBold" panose="020B0706030804020204" pitchFamily="34" charset="0"/>
      <p:regular r:id="rId60"/>
      <p:bold r:id="rId61"/>
      <p:italic r:id="rId62"/>
      <p:boldItalic r:id="rId63"/>
    </p:embeddedFont>
    <p:embeddedFont>
      <p:font typeface="Russo One" panose="020B0604020202020204" charset="0"/>
      <p:regular r:id="rId64"/>
    </p:embeddedFont>
    <p:embeddedFont>
      <p:font typeface="Vidaloka" panose="020B0604020202020204" charset="0"/>
      <p:regular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F4B55C-8345-4DD8-B79B-B648E53378B2}">
  <a:tblStyle styleId="{CBF4B55C-8345-4DD8-B79B-B648E53378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382" y="2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font" Target="fonts/font10.fntdata"/><Relationship Id="rId47" Type="http://schemas.openxmlformats.org/officeDocument/2006/relationships/font" Target="fonts/font15.fntdata"/><Relationship Id="rId63" Type="http://schemas.openxmlformats.org/officeDocument/2006/relationships/font" Target="fonts/font31.fntdata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3" Type="http://schemas.openxmlformats.org/officeDocument/2006/relationships/font" Target="fonts/font21.fntdata"/><Relationship Id="rId58" Type="http://schemas.openxmlformats.org/officeDocument/2006/relationships/font" Target="fonts/font26.fntdata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29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font" Target="fonts/font16.fntdata"/><Relationship Id="rId56" Type="http://schemas.openxmlformats.org/officeDocument/2006/relationships/font" Target="fonts/font24.fntdata"/><Relationship Id="rId64" Type="http://schemas.openxmlformats.org/officeDocument/2006/relationships/font" Target="fonts/font32.fntdata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9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59" Type="http://schemas.openxmlformats.org/officeDocument/2006/relationships/font" Target="fonts/font27.fntdata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9.fntdata"/><Relationship Id="rId54" Type="http://schemas.openxmlformats.org/officeDocument/2006/relationships/font" Target="fonts/font22.fntdata"/><Relationship Id="rId62" Type="http://schemas.openxmlformats.org/officeDocument/2006/relationships/font" Target="fonts/font3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openxmlformats.org/officeDocument/2006/relationships/font" Target="fonts/font17.fntdata"/><Relationship Id="rId57" Type="http://schemas.openxmlformats.org/officeDocument/2006/relationships/font" Target="fonts/font2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2.fntdata"/><Relationship Id="rId52" Type="http://schemas.openxmlformats.org/officeDocument/2006/relationships/font" Target="fonts/font20.fntdata"/><Relationship Id="rId60" Type="http://schemas.openxmlformats.org/officeDocument/2006/relationships/font" Target="fonts/font28.fntdata"/><Relationship Id="rId65" Type="http://schemas.openxmlformats.org/officeDocument/2006/relationships/font" Target="fonts/font3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7.fntdata"/><Relationship Id="rId34" Type="http://schemas.openxmlformats.org/officeDocument/2006/relationships/font" Target="fonts/font2.fntdata"/><Relationship Id="rId50" Type="http://schemas.openxmlformats.org/officeDocument/2006/relationships/font" Target="fonts/font18.fntdata"/><Relationship Id="rId55" Type="http://schemas.openxmlformats.org/officeDocument/2006/relationships/font" Target="fonts/font2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acdc8a15e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acdc8a15e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ce55d503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ce55d5039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cdc8a15e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6" name="Google Shape;486;g3acdc8a15e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ace55d503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ace55d503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ce55d5039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3ace55d5039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ce55d5039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ace55d5039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ace55d5039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ace55d5039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ace55d5039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ace55d5039_0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ace55d5039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ace55d5039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ace55d5039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ace55d5039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3ace55d5039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3ace55d5039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ace55d503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3ace55d503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ace55d5039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ace55d5039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ace55d5039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3ace55d5039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ace55d5039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ace55d5039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ce55d5039_0_2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3ace55d5039_0_2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ce55d5039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ace55d5039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ace55d5039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ace55d5039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74141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af0e4a725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3af0e4a725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af0e4a725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3af0e4a725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f0e4a725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3af0e4a725a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36046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19157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75258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36926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31589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2643BBBF-736C-1B6A-CB4A-A14E12AAA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>
            <a:extLst>
              <a:ext uri="{FF2B5EF4-FFF2-40B4-BE49-F238E27FC236}">
                <a16:creationId xmlns:a16="http://schemas.microsoft.com/office/drawing/2014/main" id="{D5A855F8-7D16-FC1E-D1E3-F730085F3E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>
            <a:extLst>
              <a:ext uri="{FF2B5EF4-FFF2-40B4-BE49-F238E27FC236}">
                <a16:creationId xmlns:a16="http://schemas.microsoft.com/office/drawing/2014/main" id="{2370293E-CD12-AE6A-1001-15861E7430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09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>
          <a:extLst>
            <a:ext uri="{FF2B5EF4-FFF2-40B4-BE49-F238E27FC236}">
              <a16:creationId xmlns:a16="http://schemas.microsoft.com/office/drawing/2014/main" id="{062EA5FB-115B-4ECC-B930-03A6E8090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af0e4a725a_0_33:notes">
            <a:extLst>
              <a:ext uri="{FF2B5EF4-FFF2-40B4-BE49-F238E27FC236}">
                <a16:creationId xmlns:a16="http://schemas.microsoft.com/office/drawing/2014/main" id="{32E2DB30-117E-0BB2-D1A9-E6A71F3EBD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af0e4a725a_0_33:notes">
            <a:extLst>
              <a:ext uri="{FF2B5EF4-FFF2-40B4-BE49-F238E27FC236}">
                <a16:creationId xmlns:a16="http://schemas.microsoft.com/office/drawing/2014/main" id="{AF029230-7F8F-083C-A4B1-2DA821A8E2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09919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ticon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freepik.com/" TargetMode="Externa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248300"/>
            <a:ext cx="70641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3300900"/>
            <a:ext cx="7064100" cy="44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2714550" y="2366272"/>
            <a:ext cx="3714900" cy="818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291400" y="3076675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>
            <a:endParaRPr/>
          </a:p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 b="1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subTitle" idx="1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 b="1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2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R="50800" lvl="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body" idx="1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>
            <a:endParaRPr/>
          </a:p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" name="Google Shape;64;p10"/>
          <p:cNvCxnSpPr/>
          <p:nvPr/>
        </p:nvCxnSpPr>
        <p:spPr>
          <a:xfrm rot="10800000" flipH="1">
            <a:off x="6144975" y="3103725"/>
            <a:ext cx="3118200" cy="22011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859325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859325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903925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903925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859325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859325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903925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903975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798575" y="1417915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4753975" y="1403976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798625" y="317677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4753975" y="3162833"/>
            <a:ext cx="10392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>
            <a:spLocks noGrp="1"/>
          </p:cNvSpPr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3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>
            <a:spLocks noGrp="1"/>
          </p:cNvSpPr>
          <p:nvPr>
            <p:ph type="title"/>
          </p:nvPr>
        </p:nvSpPr>
        <p:spPr>
          <a:xfrm>
            <a:off x="1994850" y="1482825"/>
            <a:ext cx="51543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4" name="Google Shape;134;p18"/>
          <p:cNvSpPr txBox="1">
            <a:spLocks noGrp="1"/>
          </p:cNvSpPr>
          <p:nvPr>
            <p:ph type="subTitle" idx="1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4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subTitle" idx="1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40" name="Google Shape;140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" name="Google Shape;143;p1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4" name="Google Shape;144;p1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" name="Google Shape;145;p1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5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0"/>
          <p:cNvSpPr txBox="1">
            <a:spLocks noGrp="1"/>
          </p:cNvSpPr>
          <p:nvPr>
            <p:ph type="title"/>
          </p:nvPr>
        </p:nvSpPr>
        <p:spPr>
          <a:xfrm>
            <a:off x="1677925" y="2511803"/>
            <a:ext cx="3714900" cy="805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8" name="Google Shape;148;p20"/>
          <p:cNvSpPr txBox="1">
            <a:spLocks noGrp="1"/>
          </p:cNvSpPr>
          <p:nvPr>
            <p:ph type="title" idx="2" hasCustomPrompt="1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831625" y="3244000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0" name="Google Shape;150;p20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0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" name="Google Shape;152;p20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0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6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" name="Google Shape;164;p2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2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17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3"/>
          <p:cNvSpPr txBox="1">
            <a:spLocks noGrp="1"/>
          </p:cNvSpPr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23"/>
          <p:cNvSpPr txBox="1">
            <a:spLocks noGrp="1"/>
          </p:cNvSpPr>
          <p:nvPr>
            <p:ph type="subTitle" idx="1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0" name="Google Shape;170;p23"/>
          <p:cNvSpPr txBox="1">
            <a:spLocks noGrp="1"/>
          </p:cNvSpPr>
          <p:nvPr>
            <p:ph type="subTitle" idx="2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3"/>
          <p:cNvSpPr txBox="1">
            <a:spLocks noGrp="1"/>
          </p:cNvSpPr>
          <p:nvPr>
            <p:ph type="subTitle" idx="3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2" name="Google Shape;172;p23"/>
          <p:cNvSpPr txBox="1">
            <a:spLocks noGrp="1"/>
          </p:cNvSpPr>
          <p:nvPr>
            <p:ph type="subTitle" idx="4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3"/>
          <p:cNvSpPr txBox="1">
            <a:spLocks noGrp="1"/>
          </p:cNvSpPr>
          <p:nvPr>
            <p:ph type="subTitle" idx="5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4" name="Google Shape;174;p23"/>
          <p:cNvSpPr txBox="1">
            <a:spLocks noGrp="1"/>
          </p:cNvSpPr>
          <p:nvPr>
            <p:ph type="subTitle" idx="6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3"/>
          <p:cNvSpPr txBox="1">
            <a:spLocks noGrp="1"/>
          </p:cNvSpPr>
          <p:nvPr>
            <p:ph type="subTitle" idx="7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176" name="Google Shape;176;p23"/>
          <p:cNvSpPr txBox="1">
            <a:spLocks noGrp="1"/>
          </p:cNvSpPr>
          <p:nvPr>
            <p:ph type="subTitle" idx="8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77" name="Google Shape;177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8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" name="Google Shape;184;p24"/>
          <p:cNvSpPr txBox="1">
            <a:spLocks noGrp="1"/>
          </p:cNvSpPr>
          <p:nvPr>
            <p:ph type="body" idx="1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1">
  <p:cSld name="CUSTOM_19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5"/>
          <p:cNvSpPr txBox="1">
            <a:spLocks noGrp="1"/>
          </p:cNvSpPr>
          <p:nvPr>
            <p:ph type="title" hasCustomPrompt="1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7" name="Google Shape;187;p25"/>
          <p:cNvSpPr txBox="1">
            <a:spLocks noGrp="1"/>
          </p:cNvSpPr>
          <p:nvPr>
            <p:ph type="subTitle" idx="1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188" name="Google Shape;188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" name="Google Shape;190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1" name="Google Shape;191;p2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6"/>
          <p:cNvSpPr txBox="1">
            <a:spLocks noGrp="1"/>
          </p:cNvSpPr>
          <p:nvPr>
            <p:ph type="title"/>
          </p:nvPr>
        </p:nvSpPr>
        <p:spPr>
          <a:xfrm>
            <a:off x="4956100" y="2467375"/>
            <a:ext cx="24753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title" idx="2" hasCustomPrompt="1"/>
          </p:nvPr>
        </p:nvSpPr>
        <p:spPr>
          <a:xfrm>
            <a:off x="4956100" y="1402325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95" name="Google Shape;195;p26"/>
          <p:cNvSpPr txBox="1">
            <a:spLocks noGrp="1"/>
          </p:cNvSpPr>
          <p:nvPr>
            <p:ph type="subTitle" idx="1"/>
          </p:nvPr>
        </p:nvSpPr>
        <p:spPr>
          <a:xfrm>
            <a:off x="4956100" y="3116275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96" name="Google Shape;196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" name="Google Shape;197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6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20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4373850" y="944250"/>
            <a:ext cx="2475300" cy="64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01" name="Google Shape;201;p27"/>
          <p:cNvSpPr txBox="1">
            <a:spLocks noGrp="1"/>
          </p:cNvSpPr>
          <p:nvPr>
            <p:ph type="title" idx="2" hasCustomPrompt="1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202" name="Google Shape;202;p27"/>
          <p:cNvSpPr txBox="1">
            <a:spLocks noGrp="1"/>
          </p:cNvSpPr>
          <p:nvPr>
            <p:ph type="subTitle" idx="1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03" name="Google Shape;203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" name="Google Shape;205;p2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2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2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2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3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subTitle" idx="1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2" name="Google Shape;212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8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>
            <a:spLocks noGrp="1"/>
          </p:cNvSpPr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9"/>
          <p:cNvSpPr txBox="1">
            <a:spLocks noGrp="1"/>
          </p:cNvSpPr>
          <p:nvPr>
            <p:ph type="subTitle" idx="1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2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29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" name="Google Shape;223;p29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>
            <a:spLocks noGrp="1"/>
          </p:cNvSpPr>
          <p:nvPr>
            <p:ph type="subTitle" idx="1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26" name="Google Shape;226;p30"/>
          <p:cNvSpPr txBox="1">
            <a:spLocks noGrp="1"/>
          </p:cNvSpPr>
          <p:nvPr>
            <p:ph type="subTitle" idx="2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30"/>
          <p:cNvSpPr txBox="1">
            <a:spLocks noGrp="1"/>
          </p:cNvSpPr>
          <p:nvPr>
            <p:ph type="subTitle" idx="3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28" name="Google Shape;228;p30"/>
          <p:cNvSpPr txBox="1">
            <a:spLocks noGrp="1"/>
          </p:cNvSpPr>
          <p:nvPr>
            <p:ph type="subTitle" idx="4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5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0" name="Google Shape;230;p30"/>
          <p:cNvSpPr txBox="1">
            <a:spLocks noGrp="1"/>
          </p:cNvSpPr>
          <p:nvPr>
            <p:ph type="subTitle" idx="6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32" name="Google Shape;232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2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>
            <a:spLocks noGrp="1"/>
          </p:cNvSpPr>
          <p:nvPr>
            <p:ph type="subTitle" idx="1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6" name="Google Shape;236;p31"/>
          <p:cNvSpPr txBox="1">
            <a:spLocks noGrp="1"/>
          </p:cNvSpPr>
          <p:nvPr>
            <p:ph type="subTitle" idx="2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7" name="Google Shape;237;p31"/>
          <p:cNvSpPr txBox="1">
            <a:spLocks noGrp="1"/>
          </p:cNvSpPr>
          <p:nvPr>
            <p:ph type="subTitle" idx="3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38" name="Google Shape;238;p31"/>
          <p:cNvSpPr txBox="1">
            <a:spLocks noGrp="1"/>
          </p:cNvSpPr>
          <p:nvPr>
            <p:ph type="subTitle" idx="4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5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0" name="Google Shape;240;p31"/>
          <p:cNvSpPr txBox="1">
            <a:spLocks noGrp="1"/>
          </p:cNvSpPr>
          <p:nvPr>
            <p:ph type="subTitle" idx="6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31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7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8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subTitle" idx="9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ubTitle" idx="13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>
            <a:spLocks noGrp="1"/>
          </p:cNvSpPr>
          <p:nvPr>
            <p:ph type="subTitle" idx="14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47" name="Google Shape;247;p31"/>
          <p:cNvSpPr txBox="1">
            <a:spLocks noGrp="1"/>
          </p:cNvSpPr>
          <p:nvPr>
            <p:ph type="subTitle" idx="15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48" name="Google Shape;24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" name="Google Shape;24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0" name="Google Shape;250;p3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3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 -">
  <p:cSld name="CUSTOM_32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2"/>
          <p:cNvSpPr txBox="1">
            <a:spLocks noGrp="1"/>
          </p:cNvSpPr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4" name="Google Shape;254;p32"/>
          <p:cNvSpPr txBox="1">
            <a:spLocks noGrp="1"/>
          </p:cNvSpPr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32"/>
          <p:cNvSpPr txBox="1">
            <a:spLocks noGrp="1"/>
          </p:cNvSpPr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6" name="Google Shape;256;p32"/>
          <p:cNvSpPr txBox="1">
            <a:spLocks noGrp="1"/>
          </p:cNvSpPr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7" name="Google Shape;257;p32"/>
          <p:cNvSpPr txBox="1">
            <a:spLocks noGrp="1"/>
          </p:cNvSpPr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58" name="Google Shape;258;p32"/>
          <p:cNvSpPr txBox="1">
            <a:spLocks noGrp="1"/>
          </p:cNvSpPr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p32"/>
          <p:cNvSpPr txBox="1">
            <a:spLocks noGrp="1"/>
          </p:cNvSpPr>
          <p:nvPr>
            <p:ph type="subTitle" idx="7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0" name="Google Shape;260;p32"/>
          <p:cNvSpPr txBox="1">
            <a:spLocks noGrp="1"/>
          </p:cNvSpPr>
          <p:nvPr>
            <p:ph type="subTitle" idx="8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32"/>
          <p:cNvSpPr txBox="1">
            <a:spLocks noGrp="1"/>
          </p:cNvSpPr>
          <p:nvPr>
            <p:ph type="subTitle" idx="9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2" name="Google Shape;262;p32"/>
          <p:cNvSpPr txBox="1">
            <a:spLocks noGrp="1"/>
          </p:cNvSpPr>
          <p:nvPr>
            <p:ph type="subTitle" idx="13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32"/>
          <p:cNvSpPr txBox="1">
            <a:spLocks noGrp="1"/>
          </p:cNvSpPr>
          <p:nvPr>
            <p:ph type="subTitle" idx="14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64" name="Google Shape;264;p32"/>
          <p:cNvSpPr txBox="1">
            <a:spLocks noGrp="1"/>
          </p:cNvSpPr>
          <p:nvPr>
            <p:ph type="subTitle" idx="15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66" name="Google Shape;266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33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>
            <a:spLocks noGrp="1"/>
          </p:cNvSpPr>
          <p:nvPr>
            <p:ph type="subTitle" idx="1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0" name="Google Shape;270;p33"/>
          <p:cNvSpPr txBox="1">
            <a:spLocks noGrp="1"/>
          </p:cNvSpPr>
          <p:nvPr>
            <p:ph type="subTitle" idx="2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3"/>
          <p:cNvSpPr txBox="1">
            <a:spLocks noGrp="1"/>
          </p:cNvSpPr>
          <p:nvPr>
            <p:ph type="subTitle" idx="3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2" name="Google Shape;272;p33"/>
          <p:cNvSpPr txBox="1">
            <a:spLocks noGrp="1"/>
          </p:cNvSpPr>
          <p:nvPr>
            <p:ph type="subTitle" idx="4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33"/>
          <p:cNvSpPr txBox="1">
            <a:spLocks noGrp="1"/>
          </p:cNvSpPr>
          <p:nvPr>
            <p:ph type="subTitle" idx="5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4" name="Google Shape;274;p33"/>
          <p:cNvSpPr txBox="1">
            <a:spLocks noGrp="1"/>
          </p:cNvSpPr>
          <p:nvPr>
            <p:ph type="subTitle" idx="6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3"/>
          <p:cNvSpPr txBox="1">
            <a:spLocks noGrp="1"/>
          </p:cNvSpPr>
          <p:nvPr>
            <p:ph type="subTitle" idx="7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6" name="Google Shape;276;p33"/>
          <p:cNvSpPr txBox="1">
            <a:spLocks noGrp="1"/>
          </p:cNvSpPr>
          <p:nvPr>
            <p:ph type="subTitle" idx="8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3"/>
          <p:cNvSpPr txBox="1">
            <a:spLocks noGrp="1"/>
          </p:cNvSpPr>
          <p:nvPr>
            <p:ph type="subTitle" idx="9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78" name="Google Shape;278;p33"/>
          <p:cNvSpPr txBox="1">
            <a:spLocks noGrp="1"/>
          </p:cNvSpPr>
          <p:nvPr>
            <p:ph type="subTitle" idx="13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3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280" name="Google Shape;280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2" name="Google Shape;282;p3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3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34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"/>
          <p:cNvSpPr txBox="1">
            <a:spLocks noGrp="1"/>
          </p:cNvSpPr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9" name="Google Shape;289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0" name="Google Shape;290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1" name="Google Shape;291;p3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CUSTOM_35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>
            <a:spLocks noGrp="1"/>
          </p:cNvSpPr>
          <p:nvPr>
            <p:ph type="subTitle" idx="1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94" name="Google Shape;294;p35"/>
          <p:cNvSpPr txBox="1">
            <a:spLocks noGrp="1"/>
          </p:cNvSpPr>
          <p:nvPr>
            <p:ph type="subTitle" idx="2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35"/>
          <p:cNvSpPr txBox="1">
            <a:spLocks noGrp="1"/>
          </p:cNvSpPr>
          <p:nvPr>
            <p:ph type="subTitle" idx="3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96" name="Google Shape;296;p35"/>
          <p:cNvSpPr txBox="1">
            <a:spLocks noGrp="1"/>
          </p:cNvSpPr>
          <p:nvPr>
            <p:ph type="subTitle" idx="4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35"/>
          <p:cNvSpPr txBox="1">
            <a:spLocks noGrp="1"/>
          </p:cNvSpPr>
          <p:nvPr>
            <p:ph type="subTitle" idx="5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298" name="Google Shape;298;p35"/>
          <p:cNvSpPr txBox="1">
            <a:spLocks noGrp="1"/>
          </p:cNvSpPr>
          <p:nvPr>
            <p:ph type="subTitle" idx="6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35"/>
          <p:cNvSpPr txBox="1">
            <a:spLocks noGrp="1"/>
          </p:cNvSpPr>
          <p:nvPr>
            <p:ph type="subTitle" idx="7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0" name="Google Shape;300;p35"/>
          <p:cNvSpPr txBox="1">
            <a:spLocks noGrp="1"/>
          </p:cNvSpPr>
          <p:nvPr>
            <p:ph type="subTitle" idx="8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3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02" name="Google Shape;30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36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>
            <a:spLocks noGrp="1"/>
          </p:cNvSpPr>
          <p:nvPr>
            <p:ph type="subTitle" idx="1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6" name="Google Shape;306;p36"/>
          <p:cNvSpPr txBox="1">
            <a:spLocks noGrp="1"/>
          </p:cNvSpPr>
          <p:nvPr>
            <p:ph type="subTitle" idx="2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36"/>
          <p:cNvSpPr txBox="1">
            <a:spLocks noGrp="1"/>
          </p:cNvSpPr>
          <p:nvPr>
            <p:ph type="subTitle" idx="3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08" name="Google Shape;308;p36"/>
          <p:cNvSpPr txBox="1">
            <a:spLocks noGrp="1"/>
          </p:cNvSpPr>
          <p:nvPr>
            <p:ph type="subTitle" idx="4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9" name="Google Shape;309;p36"/>
          <p:cNvSpPr txBox="1">
            <a:spLocks noGrp="1"/>
          </p:cNvSpPr>
          <p:nvPr>
            <p:ph type="subTitle" idx="5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10" name="Google Shape;310;p36"/>
          <p:cNvSpPr txBox="1">
            <a:spLocks noGrp="1"/>
          </p:cNvSpPr>
          <p:nvPr>
            <p:ph type="subTitle" idx="6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12" name="Google Shape;312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3" name="Google Shape;313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" name="Google Shape;314;p36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23"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6" name="Google Shape;316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7" name="Google Shape;317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" name="Google Shape;318;p3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0" name="Google Shape;320;p3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1" name="Google Shape;321;p3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2" name="Google Shape;322;p37"/>
          <p:cNvSpPr txBox="1">
            <a:spLocks noGrp="1"/>
          </p:cNvSpPr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37"/>
          <p:cNvSpPr txBox="1">
            <a:spLocks noGrp="1"/>
          </p:cNvSpPr>
          <p:nvPr>
            <p:ph type="subTitle" idx="1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4" name="Google Shape;324;p37"/>
          <p:cNvSpPr txBox="1">
            <a:spLocks noGrp="1"/>
          </p:cNvSpPr>
          <p:nvPr>
            <p:ph type="subTitle" idx="2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5" name="Google Shape;325;p37"/>
          <p:cNvSpPr txBox="1">
            <a:spLocks noGrp="1"/>
          </p:cNvSpPr>
          <p:nvPr>
            <p:ph type="subTitle" idx="3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6" name="Google Shape;326;p37"/>
          <p:cNvSpPr txBox="1">
            <a:spLocks noGrp="1"/>
          </p:cNvSpPr>
          <p:nvPr>
            <p:ph type="subTitle" idx="4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37"/>
          <p:cNvSpPr txBox="1">
            <a:spLocks noGrp="1"/>
          </p:cNvSpPr>
          <p:nvPr>
            <p:ph type="subTitle" idx="5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28" name="Google Shape;328;p37"/>
          <p:cNvSpPr txBox="1">
            <a:spLocks noGrp="1"/>
          </p:cNvSpPr>
          <p:nvPr>
            <p:ph type="subTitle" idx="6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9" name="Google Shape;329;p37"/>
          <p:cNvSpPr txBox="1">
            <a:spLocks noGrp="1"/>
          </p:cNvSpPr>
          <p:nvPr>
            <p:ph type="subTitle" idx="7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330" name="Google Shape;330;p37"/>
          <p:cNvSpPr txBox="1">
            <a:spLocks noGrp="1"/>
          </p:cNvSpPr>
          <p:nvPr>
            <p:ph type="subTitle" idx="8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1" name="Google Shape;331;p37"/>
          <p:cNvSpPr txBox="1">
            <a:spLocks noGrp="1"/>
          </p:cNvSpPr>
          <p:nvPr>
            <p:ph type="title" idx="9" hasCustomPrompt="1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2" name="Google Shape;332;p37"/>
          <p:cNvSpPr txBox="1">
            <a:spLocks noGrp="1"/>
          </p:cNvSpPr>
          <p:nvPr>
            <p:ph type="title" idx="13" hasCustomPrompt="1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3" name="Google Shape;333;p37"/>
          <p:cNvSpPr txBox="1">
            <a:spLocks noGrp="1"/>
          </p:cNvSpPr>
          <p:nvPr>
            <p:ph type="title" idx="14" hasCustomPrompt="1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4" name="Google Shape;334;p37"/>
          <p:cNvSpPr txBox="1">
            <a:spLocks noGrp="1"/>
          </p:cNvSpPr>
          <p:nvPr>
            <p:ph type="title" idx="15" hasCustomPrompt="1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4_2_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8"/>
          <p:cNvSpPr txBox="1">
            <a:spLocks noGrp="1"/>
          </p:cNvSpPr>
          <p:nvPr>
            <p:ph type="subTitle" idx="1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37" name="Google Shape;337;p38"/>
          <p:cNvSpPr txBox="1">
            <a:spLocks noGrp="1"/>
          </p:cNvSpPr>
          <p:nvPr>
            <p:ph type="subTitle" idx="2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38" name="Google Shape;338;p38"/>
          <p:cNvSpPr txBox="1">
            <a:spLocks noGrp="1"/>
          </p:cNvSpPr>
          <p:nvPr>
            <p:ph type="subTitle" idx="3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39" name="Google Shape;339;p38"/>
          <p:cNvSpPr txBox="1">
            <a:spLocks noGrp="1"/>
          </p:cNvSpPr>
          <p:nvPr>
            <p:ph type="subTitle" idx="4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0" name="Google Shape;340;p38"/>
          <p:cNvSpPr txBox="1">
            <a:spLocks noGrp="1"/>
          </p:cNvSpPr>
          <p:nvPr>
            <p:ph type="subTitle" idx="5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1" name="Google Shape;341;p38"/>
          <p:cNvSpPr txBox="1">
            <a:spLocks noGrp="1"/>
          </p:cNvSpPr>
          <p:nvPr>
            <p:ph type="subTitle" idx="6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43" name="Google Shape;343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CUSTOM_5"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9"/>
          <p:cNvSpPr txBox="1">
            <a:spLocks noGrp="1"/>
          </p:cNvSpPr>
          <p:nvPr>
            <p:ph type="subTitle" idx="1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7" name="Google Shape;347;p39"/>
          <p:cNvSpPr txBox="1">
            <a:spLocks noGrp="1"/>
          </p:cNvSpPr>
          <p:nvPr>
            <p:ph type="subTitle" idx="2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8" name="Google Shape;348;p39"/>
          <p:cNvSpPr txBox="1">
            <a:spLocks noGrp="1"/>
          </p:cNvSpPr>
          <p:nvPr>
            <p:ph type="subTitle" idx="3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49" name="Google Shape;349;p39"/>
          <p:cNvSpPr txBox="1">
            <a:spLocks noGrp="1"/>
          </p:cNvSpPr>
          <p:nvPr>
            <p:ph type="subTitle" idx="4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0" name="Google Shape;350;p39"/>
          <p:cNvSpPr txBox="1">
            <a:spLocks noGrp="1"/>
          </p:cNvSpPr>
          <p:nvPr>
            <p:ph type="subTitle" idx="5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1" name="Google Shape;351;p39"/>
          <p:cNvSpPr txBox="1">
            <a:spLocks noGrp="1"/>
          </p:cNvSpPr>
          <p:nvPr>
            <p:ph type="subTitle" idx="6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39"/>
          <p:cNvSpPr txBox="1">
            <a:spLocks noGrp="1"/>
          </p:cNvSpPr>
          <p:nvPr>
            <p:ph type="subTitle" idx="7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53" name="Google Shape;353;p39"/>
          <p:cNvSpPr txBox="1">
            <a:spLocks noGrp="1"/>
          </p:cNvSpPr>
          <p:nvPr>
            <p:ph type="subTitle" idx="8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3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355" name="Google Shape;355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CUSTOM_26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59" name="Google Shape;359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0" name="Google Shape;360;p4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4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2" name="Google Shape;362;p4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3" name="Google Shape;363;p4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4" name="Google Shape;364;p40"/>
          <p:cNvSpPr txBox="1">
            <a:spLocks noGrp="1"/>
          </p:cNvSpPr>
          <p:nvPr>
            <p:ph type="subTitle" idx="1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65" name="Google Shape;365;p40"/>
          <p:cNvSpPr txBox="1">
            <a:spLocks noGrp="1"/>
          </p:cNvSpPr>
          <p:nvPr>
            <p:ph type="subTitle" idx="2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40"/>
          <p:cNvSpPr txBox="1">
            <a:spLocks noGrp="1"/>
          </p:cNvSpPr>
          <p:nvPr>
            <p:ph type="subTitle" idx="3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67" name="Google Shape;367;p40"/>
          <p:cNvSpPr txBox="1">
            <a:spLocks noGrp="1"/>
          </p:cNvSpPr>
          <p:nvPr>
            <p:ph type="subTitle" idx="4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8" name="Google Shape;368;p40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369" name="Google Shape;369;p40"/>
          <p:cNvSpPr txBox="1">
            <a:spLocks noGrp="1"/>
          </p:cNvSpPr>
          <p:nvPr>
            <p:ph type="subTitle" idx="5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70" name="Google Shape;370;p40"/>
          <p:cNvSpPr txBox="1">
            <a:spLocks noGrp="1"/>
          </p:cNvSpPr>
          <p:nvPr>
            <p:ph type="subTitle" idx="6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6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>
            <a:spLocks noGrp="1"/>
          </p:cNvSpPr>
          <p:nvPr>
            <p:ph type="title" hasCustomPrompt="1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3" name="Google Shape;373;p41"/>
          <p:cNvSpPr txBox="1">
            <a:spLocks noGrp="1"/>
          </p:cNvSpPr>
          <p:nvPr>
            <p:ph type="subTitle" idx="1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4" name="Google Shape;374;p41"/>
          <p:cNvSpPr txBox="1">
            <a:spLocks noGrp="1"/>
          </p:cNvSpPr>
          <p:nvPr>
            <p:ph type="title" idx="2" hasCustomPrompt="1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5" name="Google Shape;375;p41"/>
          <p:cNvSpPr txBox="1">
            <a:spLocks noGrp="1"/>
          </p:cNvSpPr>
          <p:nvPr>
            <p:ph type="subTitle" idx="3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41"/>
          <p:cNvSpPr txBox="1">
            <a:spLocks noGrp="1"/>
          </p:cNvSpPr>
          <p:nvPr>
            <p:ph type="title" idx="4" hasCustomPrompt="1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7" name="Google Shape;377;p41"/>
          <p:cNvSpPr txBox="1">
            <a:spLocks noGrp="1"/>
          </p:cNvSpPr>
          <p:nvPr>
            <p:ph type="subTitle" idx="5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78" name="Google Shape;378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9" name="Google Shape;379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CUSTOM_28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>
            <a:spLocks noGrp="1"/>
          </p:cNvSpPr>
          <p:nvPr>
            <p:ph type="subTitle" idx="1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2" name="Google Shape;382;p42"/>
          <p:cNvSpPr txBox="1">
            <a:spLocks noGrp="1"/>
          </p:cNvSpPr>
          <p:nvPr>
            <p:ph type="subTitle" idx="2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3" name="Google Shape;383;p42"/>
          <p:cNvSpPr txBox="1">
            <a:spLocks noGrp="1"/>
          </p:cNvSpPr>
          <p:nvPr>
            <p:ph type="subTitle" idx="3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4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5" name="Google Shape;385;p42"/>
          <p:cNvSpPr txBox="1">
            <a:spLocks noGrp="1"/>
          </p:cNvSpPr>
          <p:nvPr>
            <p:ph type="subTitle" idx="5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386" name="Google Shape;386;p42"/>
          <p:cNvSpPr txBox="1">
            <a:spLocks noGrp="1"/>
          </p:cNvSpPr>
          <p:nvPr>
            <p:ph type="subTitle" idx="6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87" name="Google Shape;387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8" name="Google Shape;388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89" name="Google Shape;389;p4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0" name="Google Shape;390;p4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1" name="Google Shape;391;p42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2" name="Google Shape;392;p42"/>
          <p:cNvSpPr txBox="1">
            <a:spLocks noGrp="1"/>
          </p:cNvSpPr>
          <p:nvPr>
            <p:ph type="title" hasCustomPrompt="1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3" name="Google Shape;393;p42"/>
          <p:cNvSpPr txBox="1">
            <a:spLocks noGrp="1"/>
          </p:cNvSpPr>
          <p:nvPr>
            <p:ph type="title" idx="7" hasCustomPrompt="1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4" name="Google Shape;394;p42"/>
          <p:cNvSpPr txBox="1">
            <a:spLocks noGrp="1"/>
          </p:cNvSpPr>
          <p:nvPr>
            <p:ph type="title" idx="8" hasCustomPrompt="1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CUSTOM_7_1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43"/>
          <p:cNvSpPr txBox="1">
            <a:spLocks noGrp="1"/>
          </p:cNvSpPr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43"/>
          <p:cNvSpPr txBox="1">
            <a:spLocks noGrp="1"/>
          </p:cNvSpPr>
          <p:nvPr>
            <p:ph type="subTitle" idx="1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398" name="Google Shape;398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9" name="Google Shape;399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7_2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44"/>
          <p:cNvSpPr txBox="1">
            <a:spLocks noGrp="1"/>
          </p:cNvSpPr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endParaRPr/>
          </a:p>
        </p:txBody>
      </p:sp>
      <p:sp>
        <p:nvSpPr>
          <p:cNvPr id="402" name="Google Shape;402;p44"/>
          <p:cNvSpPr txBox="1">
            <a:spLocks noGrp="1"/>
          </p:cNvSpPr>
          <p:nvPr>
            <p:ph type="subTitle" idx="1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cxnSp>
        <p:nvCxnSpPr>
          <p:cNvPr id="403" name="Google Shape;403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CUSTOM_8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5"/>
          <p:cNvSpPr txBox="1">
            <a:spLocks noGrp="1"/>
          </p:cNvSpPr>
          <p:nvPr>
            <p:ph type="subTitle" idx="1"/>
          </p:nvPr>
        </p:nvSpPr>
        <p:spPr>
          <a:xfrm>
            <a:off x="4166800" y="1453525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7" name="Google Shape;407;p4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408" name="Google Shape;408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9" name="Google Shape;409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0" name="Google Shape;410;p45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9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2" name="Google Shape;412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3" name="Google Shape;413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46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7" name="Google Shape;417;p4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8" name="Google Shape;418;p46"/>
          <p:cNvSpPr txBox="1">
            <a:spLocks noGrp="1"/>
          </p:cNvSpPr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419" name="Google Shape;419;p46"/>
          <p:cNvSpPr txBox="1">
            <a:spLocks noGrp="1"/>
          </p:cNvSpPr>
          <p:nvPr>
            <p:ph type="subTitle" idx="1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0" name="Google Shape;420;p46"/>
          <p:cNvSpPr txBox="1">
            <a:spLocks noGrp="1"/>
          </p:cNvSpPr>
          <p:nvPr>
            <p:ph type="subTitle" idx="2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R="3810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9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7"/>
          <p:cNvSpPr txBox="1">
            <a:spLocks noGrp="1"/>
          </p:cNvSpPr>
          <p:nvPr>
            <p:ph type="subTitle" idx="1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23" name="Google Shape;423;p47"/>
          <p:cNvSpPr txBox="1">
            <a:spLocks noGrp="1"/>
          </p:cNvSpPr>
          <p:nvPr>
            <p:ph type="subTitle" idx="2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4" name="Google Shape;424;p47"/>
          <p:cNvSpPr txBox="1">
            <a:spLocks noGrp="1"/>
          </p:cNvSpPr>
          <p:nvPr>
            <p:ph type="subTitle" idx="3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25" name="Google Shape;425;p47"/>
          <p:cNvSpPr txBox="1">
            <a:spLocks noGrp="1"/>
          </p:cNvSpPr>
          <p:nvPr>
            <p:ph type="subTitle" idx="4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6" name="Google Shape;426;p4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cxnSp>
        <p:nvCxnSpPr>
          <p:cNvPr id="427" name="Google Shape;427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8" name="Google Shape;428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4">
  <p:cSld name="CUSTOM_31"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8"/>
          <p:cNvSpPr txBox="1">
            <a:spLocks noGrp="1"/>
          </p:cNvSpPr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>
            <a:endParaRPr/>
          </a:p>
        </p:txBody>
      </p:sp>
      <p:sp>
        <p:nvSpPr>
          <p:cNvPr id="431" name="Google Shape;431;p48"/>
          <p:cNvSpPr txBox="1">
            <a:spLocks noGrp="1"/>
          </p:cNvSpPr>
          <p:nvPr>
            <p:ph type="subTitle" idx="1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2" name="Google Shape;432;p48"/>
          <p:cNvSpPr txBox="1">
            <a:spLocks noGrp="1"/>
          </p:cNvSpPr>
          <p:nvPr>
            <p:ph type="subTitle" idx="2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3" name="Google Shape;433;p48"/>
          <p:cNvSpPr txBox="1">
            <a:spLocks noGrp="1"/>
          </p:cNvSpPr>
          <p:nvPr>
            <p:ph type="subTitle" idx="3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4" name="Google Shape;434;p48"/>
          <p:cNvSpPr txBox="1">
            <a:spLocks noGrp="1"/>
          </p:cNvSpPr>
          <p:nvPr>
            <p:ph type="subTitle" idx="4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48"/>
          <p:cNvSpPr txBox="1">
            <a:spLocks noGrp="1"/>
          </p:cNvSpPr>
          <p:nvPr>
            <p:ph type="subTitle" idx="5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>
            <a:endParaRPr/>
          </a:p>
        </p:txBody>
      </p:sp>
      <p:sp>
        <p:nvSpPr>
          <p:cNvPr id="436" name="Google Shape;436;p48"/>
          <p:cNvSpPr txBox="1">
            <a:spLocks noGrp="1"/>
          </p:cNvSpPr>
          <p:nvPr>
            <p:ph type="subTitle" idx="6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37" name="Google Shape;437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9" name="Google Shape;439;p4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0" name="Google Shape;440;p4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>
            <a:spLocks noGrp="1"/>
          </p:cNvSpPr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443" name="Google Shape;443;p49"/>
          <p:cNvSpPr txBox="1">
            <a:spLocks noGrp="1"/>
          </p:cNvSpPr>
          <p:nvPr>
            <p:ph type="subTitle" idx="1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49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lang="en" sz="1100" b="1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5" name="Google Shape;445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7" name="Google Shape;447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8" name="Google Shape;448;p49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8" name="Google Shape;458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9" name="Google Shape;459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37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://airnow.gov/aqi/aqi-basics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commons.wikimedia.org/wiki/File:Multicollinearity.jp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7.png"/><Relationship Id="rId4" Type="http://schemas.openxmlformats.org/officeDocument/2006/relationships/hyperlink" Target="https://www.cdc.gov/asthma/asthma_stats/asthma_stats_factsheet.pdf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iehs.nih.gov/health/topics/agents/smoke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dphanalytics.hhs.mass.gov/ibmcognos/bi/?perspective=authoring&amp;pathRef=.public_folders%2FMEPHTN%2Fhealth%2Fhospitalization&amp;id=iDD32737212504FBB8FCEAAA1C612EB69&amp;closeWindowOnLastView=true&amp;ui_appbar=false&amp;ui_navbar=false&amp;objRef=iDD32737212504FBB8FCEAAA1C612EB69&amp;action=run&amp;format=HTML&amp;cmPropStr=%7B%22id%22%3A%22iDD32737212504FBB8FCEAAA1C612EB69%22%2C%22type%22%3A%22report%22%2C%22defaultName%22%3A%22hospitalization%22%2C%22permissions%22%3A%5B%22execute%22%2C%22read%22%2C%22traverse%22%5D%7D" TargetMode="External"/><Relationship Id="rId5" Type="http://schemas.openxmlformats.org/officeDocument/2006/relationships/image" Target="../media/image40.png"/><Relationship Id="rId4" Type="http://schemas.openxmlformats.org/officeDocument/2006/relationships/hyperlink" Target="https://data.web.health.state.mn.us/asthma-charts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5"/>
          <p:cNvSpPr txBox="1">
            <a:spLocks noGrp="1"/>
          </p:cNvSpPr>
          <p:nvPr>
            <p:ph type="ctrTitle" idx="4294967295"/>
          </p:nvPr>
        </p:nvSpPr>
        <p:spPr>
          <a:xfrm>
            <a:off x="177450" y="66225"/>
            <a:ext cx="7445400" cy="35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 b="1">
                <a:latin typeface="Libre Baskerville"/>
                <a:ea typeface="Libre Baskerville"/>
                <a:cs typeface="Libre Baskerville"/>
                <a:sym typeface="Libre Baskerville"/>
              </a:rPr>
              <a:t>Does Poor Air Quality Increase Asthma Rates?</a:t>
            </a:r>
            <a:endParaRPr sz="5200" b="1"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2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case study on counties of Minnesota and Massachusetts</a:t>
            </a:r>
            <a:endParaRPr sz="2200">
              <a:solidFill>
                <a:schemeClr val="dk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75" name="Google Shape;475;p55"/>
          <p:cNvSpPr txBox="1">
            <a:spLocks noGrp="1"/>
          </p:cNvSpPr>
          <p:nvPr>
            <p:ph type="subTitle" idx="4294967295"/>
          </p:nvPr>
        </p:nvSpPr>
        <p:spPr>
          <a:xfrm>
            <a:off x="177450" y="4023975"/>
            <a:ext cx="8766000" cy="9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Name: Anthony Zhong</a:t>
            </a:r>
            <a:endParaRPr sz="1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University of Hawaii at Manoa – ECON 429</a:t>
            </a:r>
            <a:endParaRPr sz="1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Instructor: Ashley Lowe Mackenzie</a:t>
            </a:r>
            <a:endParaRPr sz="1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36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6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Methodology: The AQI Index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81" name="Google Shape;481;p56"/>
          <p:cNvSpPr txBox="1"/>
          <p:nvPr/>
        </p:nvSpPr>
        <p:spPr>
          <a:xfrm>
            <a:off x="269400" y="836100"/>
            <a:ext cx="52050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81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EPA Standard: </a:t>
            </a:r>
            <a:r>
              <a:rPr lang="en" sz="181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Measures outdoor air quality by concentration of pollutants</a:t>
            </a: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81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Scale: </a:t>
            </a:r>
            <a:r>
              <a:rPr lang="en" sz="181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0-500 (higher = higher health risk)</a:t>
            </a: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81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All Pollutants:</a:t>
            </a:r>
            <a:r>
              <a:rPr lang="en" sz="181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35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0"/>
              <a:buFont typeface="Libre Baskerville"/>
              <a:buChar char="-"/>
            </a:pPr>
            <a:r>
              <a:rPr lang="en" sz="181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Ground-level Ozone (O3)</a:t>
            </a: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35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0"/>
              <a:buFont typeface="Libre Baskerville"/>
              <a:buChar char="-"/>
            </a:pPr>
            <a:r>
              <a:rPr lang="en" sz="181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Particle pollution (PM2.5 &amp; PM10)</a:t>
            </a: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35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0"/>
              <a:buFont typeface="Libre Baskerville"/>
              <a:buChar char="-"/>
            </a:pPr>
            <a:r>
              <a:rPr lang="en" sz="181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Others (CO, SO, &amp; NO2)</a:t>
            </a: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endParaRPr sz="181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" sz="181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Categories:</a:t>
            </a: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35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0"/>
              <a:buFont typeface="Libre Baskerville"/>
              <a:buChar char="-"/>
            </a:pPr>
            <a:r>
              <a:rPr lang="en" sz="181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0-50: Good / Little Risk</a:t>
            </a: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35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0"/>
              <a:buFont typeface="Libre Baskerville"/>
              <a:buChar char="-"/>
            </a:pPr>
            <a:r>
              <a:rPr lang="en" sz="181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51-100: Moderate Risk</a:t>
            </a: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3535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10"/>
              <a:buFont typeface="Libre Baskerville"/>
              <a:buChar char="-"/>
            </a:pPr>
            <a:r>
              <a:rPr lang="en" sz="181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&gt;100: Unhealthy </a:t>
            </a: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82" name="Google Shape;482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8600" y="839038"/>
            <a:ext cx="3153000" cy="3827832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56"/>
          <p:cNvSpPr txBox="1"/>
          <p:nvPr/>
        </p:nvSpPr>
        <p:spPr>
          <a:xfrm>
            <a:off x="5838600" y="4666863"/>
            <a:ext cx="31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Image Credit: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Airnow.gov</a:t>
            </a: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7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Study Focus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89" name="Google Shape;489;p57"/>
          <p:cNvSpPr txBox="1"/>
          <p:nvPr/>
        </p:nvSpPr>
        <p:spPr>
          <a:xfrm>
            <a:off x="269400" y="762000"/>
            <a:ext cx="52050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Goal: 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Explore the link between air quality and asthma outcomes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Location: 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Massachusetts &amp; Minnesota 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Data: 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County-level, age-adjusted rates (ages 5 - 64), pop-adjusted rates (per 100k), 3-years span (2016-2019)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Asthma Outcomes (Y</a:t>
            </a:r>
            <a:r>
              <a:rPr lang="en" sz="18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Y</a:t>
            </a:r>
            <a:r>
              <a:rPr lang="en" sz="18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):</a:t>
            </a:r>
            <a:endParaRPr sz="18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Asthma Hospitalizations: 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Life-threatening asthma flares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 Visits: 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Sudden asthma shocks</a:t>
            </a: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490" name="Google Shape;490;p57" descr="City skyline (Provided by Getty Images)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9525" y="2341025"/>
            <a:ext cx="3152998" cy="2073602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57"/>
          <p:cNvSpPr txBox="1"/>
          <p:nvPr/>
        </p:nvSpPr>
        <p:spPr>
          <a:xfrm>
            <a:off x="5721588" y="4414613"/>
            <a:ext cx="3153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1st image: Massachusetts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2nd image: Minnesota 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Image Credit: Google Image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2" name="Google Shape;492;p57" descr="High angle view of buildings in a city, Boston, Massachusetts, USA (Provided by Getty Images)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6751" y="238475"/>
            <a:ext cx="3038525" cy="202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p58"/>
          <p:cNvPicPr preferRelativeResize="0"/>
          <p:nvPr/>
        </p:nvPicPr>
        <p:blipFill rotWithShape="1">
          <a:blip r:embed="rId3">
            <a:alphaModFix/>
          </a:blip>
          <a:srcRect l="9165"/>
          <a:stretch/>
        </p:blipFill>
        <p:spPr>
          <a:xfrm>
            <a:off x="6177000" y="221500"/>
            <a:ext cx="2637899" cy="3084749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58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Why These States &amp; Data?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499" name="Google Shape;499;p58"/>
          <p:cNvSpPr txBox="1"/>
          <p:nvPr/>
        </p:nvSpPr>
        <p:spPr>
          <a:xfrm>
            <a:off x="269400" y="836100"/>
            <a:ext cx="52050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Source: 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U.S. EPA, CDC, Department of Health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Why MA &amp; MN?</a:t>
            </a:r>
            <a:endParaRPr sz="18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Char char="●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Detailed county-level age-adjusted asthma rates 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Char char="●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Publicly accessible, clean datasets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Char char="●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County population included for fair comparison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Ensure small yet robust and comparable results </a:t>
            </a:r>
            <a:endParaRPr sz="1800" i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00" name="Google Shape;50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77000" y="3460800"/>
            <a:ext cx="2697599" cy="164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9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Descriptive Table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06" name="Google Shape;506;p59"/>
          <p:cNvSpPr txBox="1"/>
          <p:nvPr/>
        </p:nvSpPr>
        <p:spPr>
          <a:xfrm>
            <a:off x="269400" y="4027425"/>
            <a:ext cx="4229400" cy="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130 matched county–year observations</a:t>
            </a: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(out of </a:t>
            </a:r>
            <a:r>
              <a:rPr lang="en">
                <a:solidFill>
                  <a:srgbClr val="98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230 </a:t>
            </a: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total state–county–years data; others missing at least one variable).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07" name="Google Shape;507;p59"/>
          <p:cNvPicPr preferRelativeResize="0"/>
          <p:nvPr/>
        </p:nvPicPr>
        <p:blipFill rotWithShape="1">
          <a:blip r:embed="rId3">
            <a:alphaModFix/>
          </a:blip>
          <a:srcRect l="25244" t="2286"/>
          <a:stretch/>
        </p:blipFill>
        <p:spPr>
          <a:xfrm>
            <a:off x="344100" y="802725"/>
            <a:ext cx="7130601" cy="299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31500" y="3877775"/>
            <a:ext cx="3843774" cy="119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60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Statistical Model &amp; Hypothesis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14" name="Google Shape;514;p60"/>
          <p:cNvSpPr txBox="1"/>
          <p:nvPr/>
        </p:nvSpPr>
        <p:spPr>
          <a:xfrm flipH="1">
            <a:off x="269525" y="870800"/>
            <a:ext cx="8471400" cy="436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Asthma Regression Model</a:t>
            </a:r>
            <a:endParaRPr sz="2000" u="sng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Char char="-"/>
            </a:pP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Hospitalization Rate: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Y</a:t>
            </a:r>
            <a:r>
              <a:rPr lang="en" sz="21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" sz="21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β</a:t>
            </a:r>
            <a:r>
              <a:rPr lang="en" sz="21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 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+ β</a:t>
            </a:r>
            <a:r>
              <a:rPr lang="en" sz="21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(AQI) + ε</a:t>
            </a:r>
            <a:endParaRPr sz="21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Char char="-"/>
            </a:pP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ER Visits Rate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Y</a:t>
            </a:r>
            <a:r>
              <a:rPr lang="en" sz="21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" sz="21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β</a:t>
            </a:r>
            <a:r>
              <a:rPr lang="en" sz="21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 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+ β</a:t>
            </a:r>
            <a:r>
              <a:rPr lang="en" sz="21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 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(AQI) + ε</a:t>
            </a:r>
            <a:endParaRPr sz="2000" i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Hypothesis</a:t>
            </a:r>
            <a:endParaRPr sz="2000" u="sng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Char char="-"/>
            </a:pPr>
            <a:r>
              <a:rPr lang="en" sz="2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</a:t>
            </a:r>
            <a:r>
              <a:rPr lang="en" sz="20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2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β</a:t>
            </a:r>
            <a:r>
              <a:rPr lang="en" sz="20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 </a:t>
            </a:r>
            <a:r>
              <a:rPr lang="en" sz="2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0</a:t>
            </a:r>
            <a:endParaRPr sz="20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Char char="-"/>
            </a:pP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Translation: AQI = no effect on asthma-related rates</a:t>
            </a:r>
            <a:endParaRPr sz="2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Char char="-"/>
            </a:pPr>
            <a:r>
              <a:rPr lang="en" sz="2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</a:t>
            </a:r>
            <a:r>
              <a:rPr lang="en" sz="20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2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β</a:t>
            </a:r>
            <a:r>
              <a:rPr lang="en" sz="20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 </a:t>
            </a:r>
            <a:r>
              <a:rPr lang="en" sz="2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&gt; 0</a:t>
            </a:r>
            <a:endParaRPr sz="20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ibre Baskerville"/>
              <a:buChar char="-"/>
            </a:pP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Translation: Higher AQI = higher asthma-related rates</a:t>
            </a:r>
            <a:endParaRPr sz="1900">
              <a:solidFill>
                <a:schemeClr val="dk2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1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Why Only AQI as Predictor?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20" name="Google Shape;520;p61" descr="undefin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8575" y="924013"/>
            <a:ext cx="3278150" cy="3657875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61"/>
          <p:cNvSpPr txBox="1"/>
          <p:nvPr/>
        </p:nvSpPr>
        <p:spPr>
          <a:xfrm>
            <a:off x="269400" y="836100"/>
            <a:ext cx="52050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AutoNum type="arabicPeriod"/>
            </a:pPr>
            <a:r>
              <a:rPr lang="en" sz="210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Adding other pollutant variables causes </a:t>
            </a:r>
            <a:r>
              <a:rPr lang="en" sz="21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multicollinearity</a:t>
            </a:r>
            <a:r>
              <a:rPr lang="en" sz="210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!</a:t>
            </a: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AutoNum type="arabicPeriod"/>
            </a:pPr>
            <a:endParaRPr lang="en" sz="210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AutoNum type="arabicPeriod"/>
            </a:pPr>
            <a:r>
              <a:rPr lang="en" sz="210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Adjustment pre-standardizes the data, </a:t>
            </a:r>
            <a:r>
              <a:rPr lang="en" sz="21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removing need</a:t>
            </a:r>
            <a:r>
              <a:rPr lang="en" sz="210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for age and density variables.</a:t>
            </a: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AutoNum type="arabicPeriod"/>
            </a:pPr>
            <a:endParaRPr lang="en" sz="210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ibre Baskerville"/>
              <a:buAutoNum type="arabicPeriod"/>
            </a:pPr>
            <a:r>
              <a:rPr lang="en" sz="210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Socioeconomic factors (poverty, smoking) were excluded due to </a:t>
            </a:r>
            <a:r>
              <a:rPr lang="en" sz="21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limitations at the county level</a:t>
            </a:r>
            <a:r>
              <a:rPr lang="en" sz="210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  <a:endParaRPr sz="210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22" name="Google Shape;522;p61"/>
          <p:cNvSpPr txBox="1"/>
          <p:nvPr/>
        </p:nvSpPr>
        <p:spPr>
          <a:xfrm>
            <a:off x="5721138" y="4581875"/>
            <a:ext cx="3153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Image Credit: </a:t>
            </a:r>
            <a:r>
              <a:rPr lang="en" sz="12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Wikimedia</a:t>
            </a:r>
            <a:endParaRPr sz="12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2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Exploratory MA County-Level Insights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28" name="Google Shape;528;p62"/>
          <p:cNvSpPr txBox="1"/>
          <p:nvPr/>
        </p:nvSpPr>
        <p:spPr>
          <a:xfrm>
            <a:off x="137350" y="3070100"/>
            <a:ext cx="3716700" cy="23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Some counties show notably higher asthma hospitalization rates than the state average, suggesting that local factors (beyond AQI) are driving variation.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29" name="Google Shape;52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5122" y="1037675"/>
            <a:ext cx="4879479" cy="3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0" name="Google Shape;530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875" y="965200"/>
            <a:ext cx="3149949" cy="20575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3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Emergency Visits vs. AQI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36" name="Google Shape;536;p63"/>
          <p:cNvSpPr txBox="1"/>
          <p:nvPr/>
        </p:nvSpPr>
        <p:spPr>
          <a:xfrm>
            <a:off x="269400" y="836100"/>
            <a:ext cx="48582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Model: 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Age-adjusted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emergency visit rate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(per 100k) as a function of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median AQI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Baskerville"/>
              <a:buAutoNum type="arabicPeriod"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Slope (β₁): ~1.06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Baskerville"/>
              <a:buChar char="-"/>
            </a:pP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1-point increase in AQI is associated with ~1 extra emergency visit per 100,000 people.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Baskerville"/>
              <a:buAutoNum type="arabicPeriod"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95% CI: 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[0.55, 1.58] → does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not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include 0 → statistically significant (p ≈ 7∗10</a:t>
            </a:r>
            <a:r>
              <a:rPr lang="en" sz="1700" baseline="30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-5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).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Baskerville"/>
              <a:buAutoNum type="arabicPeriod"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Adjusted R² ≈ 0.11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→ AQI explains about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11%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of variation; most variation is due to other factors.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37" name="Google Shape;537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0000" y="836100"/>
            <a:ext cx="3898525" cy="199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000" y="2980475"/>
            <a:ext cx="3711600" cy="1814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4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Hospitalization Visits vs. AQI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44" name="Google Shape;544;p64"/>
          <p:cNvSpPr txBox="1"/>
          <p:nvPr/>
        </p:nvSpPr>
        <p:spPr>
          <a:xfrm>
            <a:off x="269400" y="836100"/>
            <a:ext cx="48582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Model: 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Age-adjusted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hospitalization visit rate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(per 100k) as a function of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median AQI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Baskerville"/>
              <a:buAutoNum type="arabicPeriod"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Slope (β₁): ~0.18</a:t>
            </a: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Baskerville"/>
              <a:buChar char="-"/>
            </a:pP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 1-point increase in AQI is associated with ~2 extra emergency visit per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1M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Baskerville"/>
              <a:buAutoNum type="arabicPeriod"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95% CI: 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[0.11, 0.24] → does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not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include 0 → statistically significant (p ≈ 8∗10</a:t>
            </a:r>
            <a:r>
              <a:rPr lang="en" sz="1700" baseline="30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-7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).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Libre Baskerville"/>
              <a:buAutoNum type="arabicPeriod"/>
            </a:pP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Adjusted R² ≈ 0.17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→ AQI explains about </a:t>
            </a:r>
            <a:r>
              <a:rPr lang="en" sz="17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17%</a:t>
            </a:r>
            <a:r>
              <a:rPr lang="en" sz="17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of variation; most variation is due to other factors.</a:t>
            </a: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45" name="Google Shape;54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075" y="1023750"/>
            <a:ext cx="3711601" cy="2018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0000" y="3042600"/>
            <a:ext cx="3711600" cy="18587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65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Summary &amp; Interpretation 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52" name="Google Shape;552;p65"/>
          <p:cNvSpPr txBox="1"/>
          <p:nvPr/>
        </p:nvSpPr>
        <p:spPr>
          <a:xfrm>
            <a:off x="269400" y="762000"/>
            <a:ext cx="86052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</a:t>
            </a:r>
            <a:r>
              <a:rPr lang="en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Both regression models produce statistically significant positive coefficients for AQI</a:t>
            </a: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meaning higher AQI levels are associated with higher asthma-related emergency visits and hospitalizations.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</a:t>
            </a:r>
            <a:r>
              <a:rPr lang="en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R² values are modest (0.11–0.17)</a:t>
            </a: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indicating that AQI explains only a small portion of asthma variation. This is expected, as asthma is influenced by many other factors.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 </a:t>
            </a:r>
            <a:r>
              <a:rPr lang="en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Residual plots show heteroskedasticity</a:t>
            </a: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, suggesting that at higher AQI levels, variation in asthma outcomes increases, and additional independent variables are be needed in a more predictive model.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– </a:t>
            </a: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Overall, we </a:t>
            </a:r>
            <a:r>
              <a:rPr lang="en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reject the null hypothesis (β₁ = 0)</a:t>
            </a: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and </a:t>
            </a:r>
            <a:r>
              <a:rPr lang="en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accept the alternative hypothesis (β₁ &gt; 0)</a:t>
            </a:r>
            <a:r>
              <a:rPr lang="en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that air pollution (as measured by AQI) has a statistically significant, positive association with asthma-related health outcomes.</a:t>
            </a:r>
            <a:endParaRPr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66"/>
          <p:cNvSpPr txBox="1"/>
          <p:nvPr/>
        </p:nvSpPr>
        <p:spPr>
          <a:xfrm>
            <a:off x="4050875" y="160825"/>
            <a:ext cx="58674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chemeClr val="dk2"/>
                </a:solidFill>
              </a:rPr>
              <a:t>BUT WAIT!</a:t>
            </a:r>
            <a:endParaRPr sz="2700" b="1">
              <a:solidFill>
                <a:schemeClr val="dk2"/>
              </a:solidFill>
            </a:endParaRPr>
          </a:p>
        </p:txBody>
      </p:sp>
      <p:pic>
        <p:nvPicPr>
          <p:cNvPr id="558" name="Google Shape;55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900" y="1030500"/>
            <a:ext cx="3147426" cy="3821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11726" y="2074275"/>
            <a:ext cx="5000625" cy="173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67"/>
          <p:cNvSpPr txBox="1"/>
          <p:nvPr/>
        </p:nvSpPr>
        <p:spPr>
          <a:xfrm>
            <a:off x="470588" y="2701125"/>
            <a:ext cx="80811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Maybe the </a:t>
            </a:r>
            <a:r>
              <a:rPr lang="en" sz="2100" b="1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frequency 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of the aggregate of unhealthy days </a:t>
            </a: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(AQI&gt;100)</a:t>
            </a:r>
            <a:r>
              <a:rPr lang="en" sz="21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drive MORE emergency visits than the </a:t>
            </a: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general median?</a:t>
            </a:r>
            <a:endParaRPr sz="21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Model: Y</a:t>
            </a:r>
            <a:r>
              <a:rPr lang="en" sz="21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&amp; Y</a:t>
            </a:r>
            <a:r>
              <a:rPr lang="en" sz="21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" sz="2100" b="1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</a:t>
            </a: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β</a:t>
            </a:r>
            <a:r>
              <a:rPr lang="en" sz="21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 </a:t>
            </a: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+ β</a:t>
            </a:r>
            <a:r>
              <a:rPr lang="en" sz="2100" b="1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21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(AQI &gt; 100) + ε</a:t>
            </a:r>
            <a:endParaRPr sz="21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565" name="Google Shape;565;p67"/>
          <p:cNvPicPr preferRelativeResize="0"/>
          <p:nvPr/>
        </p:nvPicPr>
        <p:blipFill rotWithShape="1">
          <a:blip r:embed="rId3">
            <a:alphaModFix/>
          </a:blip>
          <a:srcRect l="30711" r="10011"/>
          <a:stretch/>
        </p:blipFill>
        <p:spPr>
          <a:xfrm>
            <a:off x="231225" y="306525"/>
            <a:ext cx="8559824" cy="202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375" y="196850"/>
            <a:ext cx="3771025" cy="324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1150" y="758563"/>
            <a:ext cx="4971076" cy="2223388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68"/>
          <p:cNvSpPr txBox="1"/>
          <p:nvPr/>
        </p:nvSpPr>
        <p:spPr>
          <a:xfrm>
            <a:off x="384150" y="3440125"/>
            <a:ext cx="8375700" cy="17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Does </a:t>
            </a:r>
            <a:r>
              <a:rPr lang="en" sz="2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spikes in pollution</a:t>
            </a:r>
            <a:r>
              <a:rPr lang="en" sz="20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" sz="2000" b="1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(severity)</a:t>
            </a:r>
            <a:r>
              <a:rPr lang="en" sz="20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drive ER and hospital visits more than the median AQI?</a:t>
            </a:r>
            <a:endParaRPr sz="2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Model #2: Y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&amp; Y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r>
              <a:rPr lang="en" sz="20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β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 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+ β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</a:t>
            </a:r>
            <a:r>
              <a:rPr lang="en" sz="20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 AQI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) + ε </a:t>
            </a:r>
            <a:endParaRPr sz="2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Hypothesis: H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β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 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= 0 or H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β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 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&gt; 0 </a:t>
            </a:r>
            <a:endParaRPr sz="2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69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Asthma </a:t>
            </a:r>
            <a:r>
              <a:rPr lang="en" sz="2800" b="1">
                <a:latin typeface="Libre Baskerville"/>
                <a:ea typeface="Libre Baskerville"/>
                <a:cs typeface="Libre Baskerville"/>
                <a:sym typeface="Libre Baskerville"/>
              </a:rPr>
              <a:t>Emergency Visits</a:t>
            </a: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 Revisited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78" name="Google Shape;578;p69"/>
          <p:cNvSpPr txBox="1"/>
          <p:nvPr/>
        </p:nvSpPr>
        <p:spPr>
          <a:xfrm>
            <a:off x="269400" y="836100"/>
            <a:ext cx="35691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 AQI (Severity)</a:t>
            </a:r>
            <a:endParaRPr sz="18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95% CI of 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β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[0.06, 0.36] 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P-value ≈ 6.69∗10</a:t>
            </a:r>
            <a:r>
              <a:rPr lang="en" sz="1800" baseline="30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-3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Adjusted R² ≈ 0.05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Statistically valid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AQI &gt; 100 (Frequency)</a:t>
            </a:r>
            <a:endParaRPr sz="18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95% CI: [3.35, 7.44] 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P-value ≈ 6.8∗10</a:t>
            </a:r>
            <a:r>
              <a:rPr lang="en" sz="1800" baseline="30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-7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Adjusted R² ≈ 0.17 </a:t>
            </a:r>
            <a:endParaRPr sz="18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Statistically valid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79" name="Google Shape;579;p69"/>
          <p:cNvSpPr/>
          <p:nvPr/>
        </p:nvSpPr>
        <p:spPr>
          <a:xfrm>
            <a:off x="0" y="2839438"/>
            <a:ext cx="9144000" cy="33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0" name="Google Shape;580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5400" y="3073138"/>
            <a:ext cx="4029200" cy="196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1" name="Google Shape;58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80638" y="836100"/>
            <a:ext cx="3758725" cy="1831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70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Asthma </a:t>
            </a:r>
            <a:r>
              <a:rPr lang="en" sz="2800" b="1">
                <a:latin typeface="Libre Baskerville"/>
                <a:ea typeface="Libre Baskerville"/>
                <a:cs typeface="Libre Baskerville"/>
                <a:sym typeface="Libre Baskerville"/>
              </a:rPr>
              <a:t>Hospitalization </a:t>
            </a: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Revisited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87" name="Google Shape;587;p70"/>
          <p:cNvSpPr txBox="1"/>
          <p:nvPr/>
        </p:nvSpPr>
        <p:spPr>
          <a:xfrm>
            <a:off x="269400" y="836100"/>
            <a:ext cx="3569100" cy="4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 AQI (Severity)</a:t>
            </a:r>
            <a:endParaRPr sz="18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95% CI of </a:t>
            </a:r>
            <a:r>
              <a:rPr lang="en" sz="2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β</a:t>
            </a:r>
            <a:r>
              <a:rPr lang="en" sz="20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: [0.02, 0.06] 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P-value ≈ 2.66∗10</a:t>
            </a:r>
            <a:r>
              <a:rPr lang="en" sz="1800" baseline="30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-5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Adjusted R² ≈ 0.15</a:t>
            </a: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Statistically valid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AQI &gt; 100 (Frequency)</a:t>
            </a:r>
            <a:endParaRPr sz="18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95% CI: [0.61, 1.13] 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P-value ≈ 1.62∗10</a:t>
            </a:r>
            <a:r>
              <a:rPr lang="en" sz="1800" baseline="30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-9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Adjusted R² ≈ 0.24 </a:t>
            </a:r>
            <a:endParaRPr sz="18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4290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Baskerville"/>
              <a:buAutoNum type="arabicPeriod"/>
            </a:pPr>
            <a:r>
              <a:rPr lang="en" sz="18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Statistically valid</a:t>
            </a: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588" name="Google Shape;588;p70"/>
          <p:cNvSpPr/>
          <p:nvPr/>
        </p:nvSpPr>
        <p:spPr>
          <a:xfrm>
            <a:off x="0" y="2839438"/>
            <a:ext cx="9144000" cy="33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9" name="Google Shape;58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1500" y="3025138"/>
            <a:ext cx="4103103" cy="1965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0" name="Google Shape;59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6237" y="721099"/>
            <a:ext cx="4013615" cy="19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71"/>
          <p:cNvPicPr preferRelativeResize="0"/>
          <p:nvPr/>
        </p:nvPicPr>
        <p:blipFill rotWithShape="1">
          <a:blip r:embed="rId3">
            <a:alphaModFix/>
          </a:blip>
          <a:srcRect l="1862" r="15005" b="3938"/>
          <a:stretch/>
        </p:blipFill>
        <p:spPr>
          <a:xfrm>
            <a:off x="316700" y="699000"/>
            <a:ext cx="3448276" cy="1928920"/>
          </a:xfrm>
          <a:prstGeom prst="rect">
            <a:avLst/>
          </a:prstGeom>
          <a:noFill/>
          <a:ln>
            <a:noFill/>
          </a:ln>
        </p:spPr>
      </p:pic>
      <p:sp>
        <p:nvSpPr>
          <p:cNvPr id="596" name="Google Shape;596;p71"/>
          <p:cNvSpPr/>
          <p:nvPr/>
        </p:nvSpPr>
        <p:spPr>
          <a:xfrm>
            <a:off x="4325128" y="27300"/>
            <a:ext cx="108600" cy="50889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7" name="Google Shape;597;p71"/>
          <p:cNvSpPr txBox="1"/>
          <p:nvPr/>
        </p:nvSpPr>
        <p:spPr>
          <a:xfrm>
            <a:off x="5315975" y="187300"/>
            <a:ext cx="30624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ER Visits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98" name="Google Shape;598;p71"/>
          <p:cNvPicPr preferRelativeResize="0"/>
          <p:nvPr/>
        </p:nvPicPr>
        <p:blipFill rotWithShape="1">
          <a:blip r:embed="rId4">
            <a:alphaModFix/>
          </a:blip>
          <a:srcRect r="13284"/>
          <a:stretch/>
        </p:blipFill>
        <p:spPr>
          <a:xfrm>
            <a:off x="4882724" y="699000"/>
            <a:ext cx="3414808" cy="192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71"/>
          <p:cNvPicPr preferRelativeResize="0"/>
          <p:nvPr/>
        </p:nvPicPr>
        <p:blipFill rotWithShape="1">
          <a:blip r:embed="rId5">
            <a:alphaModFix/>
          </a:blip>
          <a:srcRect l="3146" t="4400" r="18001" b="4673"/>
          <a:stretch/>
        </p:blipFill>
        <p:spPr>
          <a:xfrm>
            <a:off x="4940023" y="2984404"/>
            <a:ext cx="3414799" cy="1914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71"/>
          <p:cNvPicPr preferRelativeResize="0"/>
          <p:nvPr/>
        </p:nvPicPr>
        <p:blipFill rotWithShape="1">
          <a:blip r:embed="rId6">
            <a:alphaModFix/>
          </a:blip>
          <a:srcRect l="3092" r="17396" b="6393"/>
          <a:stretch/>
        </p:blipFill>
        <p:spPr>
          <a:xfrm>
            <a:off x="316697" y="2984406"/>
            <a:ext cx="3448274" cy="1993529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71"/>
          <p:cNvSpPr txBox="1"/>
          <p:nvPr/>
        </p:nvSpPr>
        <p:spPr>
          <a:xfrm>
            <a:off x="509638" y="187300"/>
            <a:ext cx="3062400" cy="4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Hospitalization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72"/>
          <p:cNvSpPr txBox="1">
            <a:spLocks noGrp="1"/>
          </p:cNvSpPr>
          <p:nvPr>
            <p:ph type="title" idx="4294967295"/>
          </p:nvPr>
        </p:nvSpPr>
        <p:spPr>
          <a:xfrm>
            <a:off x="269400" y="159400"/>
            <a:ext cx="8605200" cy="8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latin typeface="Libre Baskerville"/>
                <a:ea typeface="Libre Baskerville"/>
                <a:cs typeface="Libre Baskerville"/>
                <a:sym typeface="Libre Baskerville"/>
              </a:rPr>
              <a:t>Final Conclusion</a:t>
            </a:r>
            <a:endParaRPr sz="2800"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07" name="Google Shape;607;p72"/>
          <p:cNvSpPr txBox="1"/>
          <p:nvPr/>
        </p:nvSpPr>
        <p:spPr>
          <a:xfrm>
            <a:off x="269400" y="762000"/>
            <a:ext cx="8605200" cy="25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ibre Baskerville"/>
              <a:buChar char="-"/>
            </a:pPr>
            <a:r>
              <a:rPr lang="en" sz="15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All models are….</a:t>
            </a:r>
            <a:endParaRPr sz="1500" b="1" baseline="-250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ibre Baskerville"/>
              <a:buChar char="-"/>
            </a:pP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statistically significant (p &lt; 0.01)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ibre Baskerville"/>
              <a:buChar char="-"/>
            </a:pP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positive correlated with Y</a:t>
            </a:r>
            <a:r>
              <a:rPr lang="en" sz="15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&amp; Y</a:t>
            </a:r>
            <a:r>
              <a:rPr lang="en" sz="15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2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ibre Baskerville"/>
              <a:buChar char="-"/>
            </a:pP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reject H</a:t>
            </a:r>
            <a:r>
              <a:rPr lang="en" sz="15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0</a:t>
            </a: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= β₁ = 0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ibre Baskerville"/>
              <a:buChar char="-"/>
            </a:pP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accept H</a:t>
            </a:r>
            <a:r>
              <a:rPr lang="en" sz="1500" baseline="-250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1</a:t>
            </a: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= β ₁ &gt; 0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ibre Baskerville"/>
              <a:buChar char="-"/>
            </a:pPr>
            <a:r>
              <a:rPr lang="en" sz="15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BUT</a:t>
            </a:r>
            <a:endParaRPr sz="15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ibre Baskerville"/>
              <a:buChar char="-"/>
            </a:pP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Max AQI and AQI &gt; 100 are </a:t>
            </a:r>
            <a:r>
              <a:rPr lang="en" sz="15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homoscedastic</a:t>
            </a: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914400" lvl="1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Libre Baskerville"/>
              <a:buChar char="-"/>
            </a:pP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Median AQI had slight </a:t>
            </a:r>
            <a:r>
              <a:rPr lang="en" sz="15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heteroscedasticity</a:t>
            </a: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graphicFrame>
        <p:nvGraphicFramePr>
          <p:cNvPr id="608" name="Google Shape;608;p72"/>
          <p:cNvGraphicFramePr/>
          <p:nvPr/>
        </p:nvGraphicFramePr>
        <p:xfrm>
          <a:off x="1125425" y="3372075"/>
          <a:ext cx="7239000" cy="1584840"/>
        </p:xfrm>
        <a:graphic>
          <a:graphicData uri="http://schemas.openxmlformats.org/drawingml/2006/table">
            <a:tbl>
              <a:tblPr>
                <a:noFill/>
                <a:tableStyleId>{CBF4B55C-8345-4DD8-B79B-B648E53378B2}</a:tableStyleId>
              </a:tblPr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Adjusted R</a:t>
                      </a:r>
                      <a:r>
                        <a:rPr lang="en" b="1" baseline="30000"/>
                        <a:t>2</a:t>
                      </a:r>
                      <a:endParaRPr b="1" baseline="-25000"/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Median AQI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Max AQI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AQI &gt; 100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ER Visits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0.11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0.05</a:t>
                      </a:r>
                      <a:endParaRPr/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80000"/>
                          </a:solidFill>
                        </a:rPr>
                        <a:t>0.17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</a:rPr>
                        <a:t>Hospitalization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0.15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80000"/>
                          </a:solidFill>
                        </a:rPr>
                        <a:t>0.24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Ranking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Middle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Worse</a:t>
                      </a:r>
                      <a:endParaRPr/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980000"/>
                          </a:solidFill>
                        </a:rPr>
                        <a:t>Best</a:t>
                      </a:r>
                      <a:endParaRPr>
                        <a:solidFill>
                          <a:srgbClr val="980000"/>
                        </a:solidFill>
                      </a:endParaRPr>
                    </a:p>
                  </a:txBody>
                  <a:tcPr marL="91425" marR="91425" marT="91425" marB="9142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1712A-7B4F-44B5-BEBF-9132FB36A48E}"/>
              </a:ext>
            </a:extLst>
          </p:cNvPr>
          <p:cNvSpPr txBox="1"/>
          <p:nvPr/>
        </p:nvSpPr>
        <p:spPr>
          <a:xfrm>
            <a:off x="744671" y="1786920"/>
            <a:ext cx="76546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latin typeface="Libre Baskerville" panose="020B0604020202020204" charset="0"/>
              </a:rPr>
              <a:t>Pre-Presentation</a:t>
            </a:r>
          </a:p>
          <a:p>
            <a:pPr algn="ctr"/>
            <a:r>
              <a:rPr lang="en-US" sz="4800" b="1" dirty="0">
                <a:latin typeface="Libre Baskerville" panose="020B0604020202020204" charset="0"/>
              </a:rPr>
              <a:t>Teacher-Led Feedback</a:t>
            </a:r>
          </a:p>
        </p:txBody>
      </p:sp>
    </p:spTree>
    <p:extLst>
      <p:ext uri="{BB962C8B-B14F-4D97-AF65-F5344CB8AC3E}">
        <p14:creationId xmlns:p14="http://schemas.microsoft.com/office/powerpoint/2010/main" val="39745322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73"/>
          <p:cNvSpPr txBox="1"/>
          <p:nvPr/>
        </p:nvSpPr>
        <p:spPr>
          <a:xfrm>
            <a:off x="185250" y="58200"/>
            <a:ext cx="5592300" cy="48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u="sng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Feedback Credit Slide:</a:t>
            </a:r>
            <a:endParaRPr sz="1900" b="1" u="sng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i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“slide 2 I would split into 2 or 3 slides and increase font.” </a:t>
            </a:r>
            <a:endParaRPr sz="1600" i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u="sng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How I used the feedback:</a:t>
            </a:r>
            <a:endParaRPr sz="1600" b="1" u="sng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Baskerville"/>
              <a:buChar char="●"/>
            </a:pPr>
            <a:r>
              <a:rPr lang="en" sz="16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(Below) is my old slide 2 where it is just information packed into one slide.</a:t>
            </a:r>
            <a:endParaRPr sz="16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Libre Baskerville"/>
              <a:buChar char="●"/>
            </a:pPr>
            <a:r>
              <a:rPr lang="en" sz="16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(Right)  is my new slides where I split up the information into 3 separate slides and increased font!</a:t>
            </a:r>
            <a:endParaRPr sz="16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10" b="1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614" name="Google Shape;614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9275" y="302913"/>
            <a:ext cx="2245650" cy="431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6876" y="3234775"/>
            <a:ext cx="3166125" cy="1809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74"/>
          <p:cNvSpPr txBox="1"/>
          <p:nvPr/>
        </p:nvSpPr>
        <p:spPr>
          <a:xfrm>
            <a:off x="185250" y="58200"/>
            <a:ext cx="4151100" cy="480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Feedback Credit Slide:</a:t>
            </a:r>
            <a:endParaRPr sz="1900" b="1" u="sng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“Same with 4 &amp; 5. you I think that the added slides shouldnʻt take to much long to cover in presentation so could afford to do this.”</a:t>
            </a:r>
            <a:endParaRPr sz="1600" i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How I used the feedback:</a:t>
            </a:r>
            <a:endParaRPr sz="1600" b="1" u="sng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(Below) is my old slides 4 &amp; 5 </a:t>
            </a:r>
            <a:r>
              <a:rPr lang="en" sz="1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where information is also packed and font size is small.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621" name="Google Shape;621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5525" y="2955725"/>
            <a:ext cx="1797375" cy="20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7000" y="338350"/>
            <a:ext cx="2256150" cy="3579625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74"/>
          <p:cNvSpPr txBox="1"/>
          <p:nvPr/>
        </p:nvSpPr>
        <p:spPr>
          <a:xfrm>
            <a:off x="4126025" y="4013125"/>
            <a:ext cx="5018100" cy="9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(Above) is my new slides </a:t>
            </a:r>
            <a:r>
              <a:rPr lang="en" sz="15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where I separate information in slide 4 into two slides &amp; deleted a chart for more visual clarity in slide 5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5"/>
          <p:cNvSpPr txBox="1"/>
          <p:nvPr/>
        </p:nvSpPr>
        <p:spPr>
          <a:xfrm>
            <a:off x="185250" y="58200"/>
            <a:ext cx="4424700" cy="29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Feedback Credit Slide:</a:t>
            </a:r>
            <a:endParaRPr sz="1900" b="1" u="sng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“slide 3 might be better as a descriptive table (found in data where regression option is)”</a:t>
            </a:r>
            <a:endParaRPr sz="1600" i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How I used the feedback:</a:t>
            </a:r>
            <a:endParaRPr sz="1600" b="1" u="sng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(Below) is my old slides 3</a:t>
            </a:r>
            <a:r>
              <a:rPr lang="en" sz="160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where there’s a whole lot of columns that doesn’t help the audience understand my regression</a:t>
            </a: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5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29" name="Google Shape;629;p75"/>
          <p:cNvSpPr txBox="1"/>
          <p:nvPr/>
        </p:nvSpPr>
        <p:spPr>
          <a:xfrm>
            <a:off x="4762425" y="3539775"/>
            <a:ext cx="4229100" cy="12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 b="1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(Above) is my new slides </a:t>
            </a:r>
            <a:r>
              <a:rPr lang="en" sz="1500" dirty="0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where I converted the ink-ratio table into just a descriptive table that shows the 3 variables involved in regression.</a:t>
            </a:r>
            <a:endParaRPr sz="1500" dirty="0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630" name="Google Shape;63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250" y="2866625"/>
            <a:ext cx="3748424" cy="209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2350" y="680525"/>
            <a:ext cx="4229249" cy="239405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32" name="Google Shape;632;p75"/>
          <p:cNvSpPr/>
          <p:nvPr/>
        </p:nvSpPr>
        <p:spPr>
          <a:xfrm>
            <a:off x="4545750" y="100200"/>
            <a:ext cx="52500" cy="5043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76"/>
          <p:cNvSpPr txBox="1"/>
          <p:nvPr/>
        </p:nvSpPr>
        <p:spPr>
          <a:xfrm>
            <a:off x="185250" y="58200"/>
            <a:ext cx="4196400" cy="29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 b="1" u="sng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Feedback Credit Slide:</a:t>
            </a:r>
            <a:endParaRPr sz="1900" b="1" u="sng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“Regression 6 is cool do you have the data that can use max versus median/mean? Actually looking at 3 Iʻll just jump into sensitivity. </a:t>
            </a:r>
            <a:endParaRPr sz="1600" i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Sensitivity Analysis: </a:t>
            </a:r>
            <a:endParaRPr sz="1600" i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From table it looks like you do have hazardous and very unhealthy. Run this equation:</a:t>
            </a:r>
            <a:endParaRPr sz="1600" i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i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rates= unheathysen+ unhealthy+veryUnhealth+Hazardous+agerate+e”</a:t>
            </a:r>
            <a:endParaRPr sz="1600" i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1">
                <a:solidFill>
                  <a:schemeClr val="dk1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I incorporated both max AQI and the frequency of unhealthy days (AQI &gt; 100) into my slides. </a:t>
            </a:r>
            <a:endParaRPr sz="160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  <a:p>
            <a:pPr marL="0" lvl="0" indent="0" algn="l" rtl="0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10" b="1">
              <a:solidFill>
                <a:schemeClr val="dk1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638" name="Google Shape;638;p76"/>
          <p:cNvSpPr/>
          <p:nvPr/>
        </p:nvSpPr>
        <p:spPr>
          <a:xfrm>
            <a:off x="4545750" y="100200"/>
            <a:ext cx="52500" cy="50433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9" name="Google Shape;639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0650" y="152400"/>
            <a:ext cx="3424951" cy="19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6523" y="1979049"/>
            <a:ext cx="3208824" cy="1838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7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50650" y="3817925"/>
            <a:ext cx="3856199" cy="132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1712A-7B4F-44B5-BEBF-9132FB36A48E}"/>
              </a:ext>
            </a:extLst>
          </p:cNvPr>
          <p:cNvSpPr txBox="1"/>
          <p:nvPr/>
        </p:nvSpPr>
        <p:spPr>
          <a:xfrm>
            <a:off x="807988" y="1786920"/>
            <a:ext cx="752802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>
                <a:latin typeface="Libre Baskerville" panose="020B0604020202020204" charset="0"/>
              </a:rPr>
              <a:t>Post-Presentation</a:t>
            </a:r>
          </a:p>
          <a:p>
            <a:pPr algn="ctr"/>
            <a:r>
              <a:rPr lang="en-US" sz="4800" b="1" dirty="0">
                <a:latin typeface="Libre Baskerville" panose="020B0604020202020204" charset="0"/>
              </a:rPr>
              <a:t>Student-Led Feedback</a:t>
            </a:r>
          </a:p>
        </p:txBody>
      </p:sp>
    </p:spTree>
    <p:extLst>
      <p:ext uri="{BB962C8B-B14F-4D97-AF65-F5344CB8AC3E}">
        <p14:creationId xmlns:p14="http://schemas.microsoft.com/office/powerpoint/2010/main" val="38060353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86D7CC-E8A6-4CED-9706-4F6C42BB1F69}"/>
              </a:ext>
            </a:extLst>
          </p:cNvPr>
          <p:cNvSpPr txBox="1"/>
          <p:nvPr/>
        </p:nvSpPr>
        <p:spPr>
          <a:xfrm>
            <a:off x="955040" y="1602254"/>
            <a:ext cx="72339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u="sng" dirty="0">
                <a:latin typeface="Libre Baskerville" panose="020B0604020202020204" charset="0"/>
              </a:rPr>
              <a:t>Post-Presentation Feedback A: </a:t>
            </a:r>
          </a:p>
          <a:p>
            <a:pPr algn="ctr"/>
            <a:r>
              <a:rPr lang="en-US" sz="2400" dirty="0">
                <a:latin typeface="Libre Baskerville" panose="020B0604020202020204" charset="0"/>
              </a:rPr>
              <a:t>"Why only use AQI? Factors like smoking, income, and BIPOC status play a huge role. Were impoverished communities disproportionately affected?"</a:t>
            </a:r>
          </a:p>
        </p:txBody>
      </p:sp>
    </p:spTree>
    <p:extLst>
      <p:ext uri="{BB962C8B-B14F-4D97-AF65-F5344CB8AC3E}">
        <p14:creationId xmlns:p14="http://schemas.microsoft.com/office/powerpoint/2010/main" val="3686125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29;p75">
            <a:extLst>
              <a:ext uri="{FF2B5EF4-FFF2-40B4-BE49-F238E27FC236}">
                <a16:creationId xmlns:a16="http://schemas.microsoft.com/office/drawing/2014/main" id="{F47C32AB-51A2-4221-AE8C-074218F48876}"/>
              </a:ext>
            </a:extLst>
          </p:cNvPr>
          <p:cNvSpPr txBox="1"/>
          <p:nvPr/>
        </p:nvSpPr>
        <p:spPr>
          <a:xfrm>
            <a:off x="3928533" y="-61415"/>
            <a:ext cx="5126378" cy="566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Libre Baskerville" panose="020B0604020202020204" charset="0"/>
              </a:rPr>
              <a:t>(Part </a:t>
            </a:r>
            <a:r>
              <a:rPr lang="en-US" sz="1600" dirty="0" err="1">
                <a:solidFill>
                  <a:schemeClr val="tx1"/>
                </a:solidFill>
                <a:latin typeface="Libre Baskerville" panose="020B0604020202020204" charset="0"/>
              </a:rPr>
              <a:t>i</a:t>
            </a:r>
            <a:r>
              <a:rPr lang="en-US" sz="1600" dirty="0">
                <a:solidFill>
                  <a:schemeClr val="tx1"/>
                </a:solidFill>
                <a:latin typeface="Libre Baskerville" panose="020B0604020202020204" charset="0"/>
              </a:rPr>
              <a:t>) Feedback Response – Methodology &amp; Data Constraints</a:t>
            </a:r>
          </a:p>
          <a:p>
            <a:pPr marL="171450" lvl="0" indent="-17145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tx1"/>
                </a:solidFill>
                <a:latin typeface="Libre Baskerville" panose="020B0604020202020204" charset="0"/>
                <a:ea typeface="Libre Baskerville"/>
                <a:cs typeface="Libre Baskerville"/>
                <a:sym typeface="Libre Baskerville"/>
              </a:rPr>
              <a:t>Acknowledgement:</a:t>
            </a:r>
            <a:r>
              <a:rPr lang="en-US" sz="1250" dirty="0">
                <a:solidFill>
                  <a:schemeClr val="tx1"/>
                </a:solidFill>
                <a:latin typeface="Libre Baskerville" panose="020B0604020202020204" charset="0"/>
                <a:ea typeface="Libre Baskerville"/>
                <a:cs typeface="Libre Baskerville"/>
                <a:sym typeface="Libre Baskerville"/>
              </a:rPr>
              <a:t> As noted briefly in Slide 7, I agree that Socioeconomics Status (SES) and smoking are major confounders.</a:t>
            </a:r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tx1"/>
                </a:solidFill>
                <a:latin typeface="Libre Baskerville" panose="020B0604020202020204" charset="0"/>
                <a:ea typeface="Libre Baskerville"/>
                <a:cs typeface="Libre Baskerville"/>
                <a:sym typeface="Libre Baskerville"/>
              </a:rPr>
              <a:t>The Specificity Problem: </a:t>
            </a:r>
            <a:r>
              <a:rPr lang="en-US" sz="1250" dirty="0">
                <a:solidFill>
                  <a:schemeClr val="tx1"/>
                </a:solidFill>
                <a:latin typeface="Libre Baskerville" panose="020B0604020202020204" charset="0"/>
                <a:ea typeface="Libre Baskerville"/>
                <a:cs typeface="Libre Baskerville"/>
                <a:sym typeface="Libre Baskerville"/>
              </a:rPr>
              <a:t>While county-level smoking data exists (see map), it creates a causation gap. The data does not distinguish between the general population and the specific asthma patient population admitted to the hospital. </a:t>
            </a:r>
            <a:endParaRPr lang="en-US" sz="1250" b="1" dirty="0">
              <a:solidFill>
                <a:schemeClr val="tx1"/>
              </a:solidFill>
              <a:latin typeface="Libre Baskerville" panose="020B0604020202020204" charset="0"/>
              <a:ea typeface="Libre Baskerville"/>
              <a:cs typeface="Libre Baskerville"/>
              <a:sym typeface="Libre Baskerville"/>
            </a:endParaRPr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250" b="1" dirty="0">
                <a:solidFill>
                  <a:schemeClr val="tx1"/>
                </a:solidFill>
                <a:latin typeface="Libre Baskerville" panose="020B0604020202020204" charset="0"/>
                <a:ea typeface="Libre Baskerville"/>
                <a:cs typeface="Libre Baskerville"/>
                <a:sym typeface="Libre Baskerville"/>
              </a:rPr>
              <a:t>Requirement for Causation: </a:t>
            </a:r>
            <a:r>
              <a:rPr lang="en-US" sz="1250" dirty="0">
                <a:solidFill>
                  <a:schemeClr val="tx1"/>
                </a:solidFill>
                <a:latin typeface="Libre Baskerville" panose="020B0604020202020204" charset="0"/>
                <a:ea typeface="Libre Baskerville"/>
                <a:cs typeface="Libre Baskerville"/>
                <a:sym typeface="Libre Baskerville"/>
              </a:rPr>
              <a:t>To control for this effectively, this model would need private health habits data linking specific habits directly to the patients admitted, which was unavailable in the public datasets for county-level state data. There is, however, from the CDC that has state-level data of % of people with asthma who smoke. I could not say the same in finding readily-available for county-level. </a:t>
            </a:r>
            <a:endParaRPr lang="en-US" sz="1250" b="1" dirty="0">
              <a:solidFill>
                <a:schemeClr val="tx1"/>
              </a:solidFill>
              <a:latin typeface="Libre Baskerville" panose="020B0604020202020204" charset="0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6762AC-7D0D-4E18-AEE9-2C0CA04635B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952"/>
          <a:stretch/>
        </p:blipFill>
        <p:spPr>
          <a:xfrm>
            <a:off x="89089" y="1527286"/>
            <a:ext cx="1596049" cy="20585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B7025E-4C53-4CC4-A558-A1506A4EA196}"/>
              </a:ext>
            </a:extLst>
          </p:cNvPr>
          <p:cNvSpPr txBox="1"/>
          <p:nvPr/>
        </p:nvSpPr>
        <p:spPr>
          <a:xfrm>
            <a:off x="89089" y="357952"/>
            <a:ext cx="3683658" cy="1068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52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</a:pPr>
            <a:r>
              <a:rPr lang="en-US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</a:t>
            </a:r>
            <a:r>
              <a:rPr lang="en-US" sz="1400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Socioeconomic factors (poverty, smoking) were excluded due to </a:t>
            </a:r>
            <a:r>
              <a:rPr lang="en-US" sz="1400" b="1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data limitations at the county level</a:t>
            </a:r>
            <a:r>
              <a:rPr lang="en-US" sz="1400" dirty="0">
                <a:solidFill>
                  <a:srgbClr val="FF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.” – Slide 7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5102BF-A2EE-441C-8BC2-1B27A79C605B}"/>
              </a:ext>
            </a:extLst>
          </p:cNvPr>
          <p:cNvSpPr txBox="1"/>
          <p:nvPr/>
        </p:nvSpPr>
        <p:spPr>
          <a:xfrm>
            <a:off x="1" y="3717180"/>
            <a:ext cx="3850640" cy="137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60" dirty="0">
                <a:latin typeface="Libre Baskerville" panose="020B0604020202020204" charset="0"/>
              </a:rPr>
              <a:t>Map Source:</a:t>
            </a:r>
          </a:p>
          <a:p>
            <a:pPr marL="457200" indent="-457200"/>
            <a:r>
              <a:rPr kumimoji="0" lang="en-US" altLang="en-US" sz="76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  <a:cs typeface="Times New Roman" panose="02020603050405020304" pitchFamily="18" charset="0"/>
              </a:rPr>
              <a:t>Adult Smoking in Minnesota</a:t>
            </a:r>
            <a:r>
              <a:rPr kumimoji="0" lang="en-US" altLang="en-US" sz="76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  <a:cs typeface="Times New Roman" panose="02020603050405020304" pitchFamily="18" charset="0"/>
              </a:rPr>
              <a:t>. (2025). County Health Rankings &amp; Roadmaps. https://www.countyhealthrankings.org/health-data/community-conditions/health-infrastructure/health-promotion-and-harm-reduction/adult-smoking?year=2025&amp;state=27&amp;tab=0</a:t>
            </a:r>
            <a:endParaRPr kumimoji="0" lang="en-US" altLang="en-US" sz="76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ibre Baskerville" panose="020B0604020202020204" charset="0"/>
            </a:endParaRPr>
          </a:p>
          <a:p>
            <a:endParaRPr lang="en-US" sz="760" dirty="0">
              <a:latin typeface="Libre Baskerville" panose="020B0604020202020204" charset="0"/>
            </a:endParaRPr>
          </a:p>
          <a:p>
            <a:r>
              <a:rPr lang="en-US" sz="760" dirty="0">
                <a:latin typeface="Libre Baskerville" panose="020B0604020202020204" charset="0"/>
              </a:rPr>
              <a:t>Table Source:</a:t>
            </a:r>
          </a:p>
          <a:p>
            <a:pPr marL="457200" indent="-457200"/>
            <a:r>
              <a:rPr lang="en-US" sz="760" i="1" dirty="0">
                <a:solidFill>
                  <a:srgbClr val="000000"/>
                </a:solidFill>
                <a:effectLst/>
                <a:latin typeface="Libre Baskerville" panose="020B0604020202020204" charset="0"/>
              </a:rPr>
              <a:t>Asthma Stats Percentage of People with Asthma who Smoke People with Asthma </a:t>
            </a:r>
            <a:r>
              <a:rPr lang="en-US" sz="760" dirty="0">
                <a:solidFill>
                  <a:srgbClr val="000000"/>
                </a:solidFill>
                <a:effectLst/>
                <a:latin typeface="Libre Baskerville" panose="020B0604020202020204" charset="0"/>
              </a:rPr>
              <a:t>(n.d.). </a:t>
            </a:r>
            <a:r>
              <a:rPr lang="en-US" sz="760" dirty="0">
                <a:latin typeface="Libre Baskerville" panose="020B0604020202020204" charset="0"/>
              </a:rPr>
              <a:t>U.S. Centers for Diseases Control and Prevention.</a:t>
            </a:r>
            <a:r>
              <a:rPr lang="en-US" sz="760" dirty="0">
                <a:solidFill>
                  <a:srgbClr val="000000"/>
                </a:solidFill>
                <a:effectLst/>
                <a:latin typeface="Libre Baskerville" panose="020B0604020202020204" charset="0"/>
              </a:rPr>
              <a:t> </a:t>
            </a:r>
            <a:r>
              <a:rPr lang="en-US" sz="760" dirty="0">
                <a:solidFill>
                  <a:srgbClr val="000000"/>
                </a:solidFill>
                <a:effectLst/>
                <a:latin typeface="Libre Baskerville" panose="020B0604020202020204" charset="0"/>
                <a:hlinkClick r:id="rId4"/>
              </a:rPr>
              <a:t>https://www.cdc.gov/asthma/asthma_stats/asthma_stats_factsheet.pdf</a:t>
            </a:r>
            <a:endParaRPr lang="en-US" sz="760" dirty="0">
              <a:solidFill>
                <a:srgbClr val="000000"/>
              </a:solidFill>
              <a:effectLst/>
              <a:latin typeface="Libre Baskerville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87411-5471-45E1-BF8B-14E84FE991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399" y="1665197"/>
            <a:ext cx="2057241" cy="167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495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629;p75">
            <a:extLst>
              <a:ext uri="{FF2B5EF4-FFF2-40B4-BE49-F238E27FC236}">
                <a16:creationId xmlns:a16="http://schemas.microsoft.com/office/drawing/2014/main" id="{1B3D71ED-4484-4501-AD10-9F67356FE011}"/>
              </a:ext>
            </a:extLst>
          </p:cNvPr>
          <p:cNvSpPr txBox="1"/>
          <p:nvPr/>
        </p:nvSpPr>
        <p:spPr>
          <a:xfrm>
            <a:off x="2377440" y="-86268"/>
            <a:ext cx="6670698" cy="6444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Libre Baskerville" panose="020B0604020202020204" charset="0"/>
              </a:rPr>
              <a:t>(Part ii) Feedback Response – Theoretical Context</a:t>
            </a:r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The AQI Overlap: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 AQI does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partially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 controls for smoking already. According to the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National Institute of Environmental Health Sciences (NIHS)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, cigarette smoke contributes to Particulate Matter (PM) levels, which is the key component of the AQI index used in this model.</a:t>
            </a:r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Chemical Impact: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 However, I acknowledge that smoking introduces specific respiratory irritants not fully captured by AQI like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lead, tar, nicotine, and formaldehyde</a:t>
            </a:r>
            <a:r>
              <a:rPr lang="en-US" altLang="en-US" sz="1200" dirty="0">
                <a:solidFill>
                  <a:schemeClr val="tx1"/>
                </a:solidFill>
                <a:latin typeface="Libre Baskerville" panose="020B0604020202020204" charset="0"/>
              </a:rPr>
              <a:t>,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which does directly worsen outcomes for asthma patients (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NIHS, 2024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).</a:t>
            </a:r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SES as Proxy Variables: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 Variables like Income and Race often act as proxies for structural factors, such as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housing standards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 (mold/dust) or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proximity to industrial sites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 (e.g., coal/gas plants). </a:t>
            </a:r>
            <a:r>
              <a:rPr lang="en-US" altLang="en-US" sz="1200" dirty="0">
                <a:solidFill>
                  <a:schemeClr val="tx1"/>
                </a:solidFill>
                <a:latin typeface="Libre Baskerville" panose="020B0604020202020204" charset="0"/>
              </a:rPr>
              <a:t>These are environmental factors that I am more interested in as it is the focus of the class.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ibre Baskerville" panose="020B0604020202020204" charset="0"/>
            </a:endParaRPr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Scope: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 However, getting these structural datasets on a county-level basis was not readily available in my search. As this study prioritized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environmental factors</a:t>
            </a:r>
            <a:r>
              <a:rPr lang="en-US" altLang="en-US" sz="1200" dirty="0">
                <a:solidFill>
                  <a:schemeClr val="tx1"/>
                </a:solidFill>
                <a:latin typeface="Libre Baskerville" panose="020B0604020202020204" charset="0"/>
              </a:rPr>
              <a:t> like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B0604020202020204" charset="0"/>
              </a:rPr>
              <a:t>specific industrial proximity, so I did not include socioeconomic status variables like income nor race/ethnicity in my analysis. </a:t>
            </a:r>
          </a:p>
          <a:p>
            <a:pPr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</a:pPr>
            <a:endParaRPr lang="en-US" sz="1200" dirty="0">
              <a:solidFill>
                <a:schemeClr val="tx1"/>
              </a:solidFill>
              <a:latin typeface="Libre Baskerville" panose="020B0604020202020204" charset="0"/>
              <a:ea typeface="Libre Baskerville"/>
              <a:cs typeface="Libre Baskerville"/>
              <a:sym typeface="Libre Baskerville"/>
            </a:endParaRPr>
          </a:p>
          <a:p>
            <a:pPr marL="171450" indent="-17145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1200" b="1" dirty="0">
              <a:solidFill>
                <a:schemeClr val="tx1"/>
              </a:solidFill>
              <a:latin typeface="Libre Baskerville" panose="020B0604020202020204" charset="0"/>
              <a:ea typeface="Libre Baskerville"/>
              <a:cs typeface="Libre Baskerville"/>
              <a:sym typeface="Libre Baskerville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FDDEE8-EF83-4F55-9979-819E0320181D}"/>
              </a:ext>
            </a:extLst>
          </p:cNvPr>
          <p:cNvSpPr txBox="1"/>
          <p:nvPr/>
        </p:nvSpPr>
        <p:spPr>
          <a:xfrm>
            <a:off x="1" y="4015207"/>
            <a:ext cx="2377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latin typeface="Libre Baskerville" panose="020B0604020202020204" charset="0"/>
              </a:rPr>
              <a:t>Smoking Source:</a:t>
            </a:r>
          </a:p>
          <a:p>
            <a:pPr marL="457200" indent="-457200"/>
            <a:r>
              <a:rPr lang="en-US" sz="800" dirty="0">
                <a:solidFill>
                  <a:srgbClr val="000000"/>
                </a:solidFill>
                <a:effectLst/>
                <a:latin typeface="Libre Baskerville" panose="020B0604020202020204" charset="0"/>
              </a:rPr>
              <a:t>National Institute of Environmental Health Sciences. (2024, June 12). </a:t>
            </a:r>
            <a:r>
              <a:rPr lang="en-US" sz="800" i="1" dirty="0">
                <a:solidFill>
                  <a:srgbClr val="000000"/>
                </a:solidFill>
                <a:effectLst/>
                <a:latin typeface="Libre Baskerville" panose="020B0604020202020204" charset="0"/>
              </a:rPr>
              <a:t>Smoking and Vaping</a:t>
            </a:r>
            <a:r>
              <a:rPr lang="en-US" sz="800" dirty="0">
                <a:solidFill>
                  <a:srgbClr val="000000"/>
                </a:solidFill>
                <a:effectLst/>
                <a:latin typeface="Libre Baskerville" panose="020B0604020202020204" charset="0"/>
              </a:rPr>
              <a:t>. National Institute of Environmental Health Sciences. </a:t>
            </a:r>
            <a:r>
              <a:rPr lang="en-US" sz="800" dirty="0">
                <a:solidFill>
                  <a:srgbClr val="000000"/>
                </a:solidFill>
                <a:effectLst/>
                <a:latin typeface="Libre Baskerville" panose="020B0604020202020204" charset="0"/>
                <a:hlinkClick r:id="rId3"/>
              </a:rPr>
              <a:t>https://www.niehs.nih.gov/health/topics/agents/smoke</a:t>
            </a:r>
            <a:endParaRPr lang="en-US" sz="800" dirty="0">
              <a:solidFill>
                <a:srgbClr val="000000"/>
              </a:solidFill>
              <a:effectLst/>
              <a:latin typeface="Libre Baskerville" panose="020B0604020202020204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Libre Baskerville" panose="020B0604020202020204" charset="0"/>
              </a:rPr>
              <a:t>‌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71F6658C-2204-4BB9-80AF-E9564F96D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" y="743291"/>
            <a:ext cx="2039312" cy="1485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336992-6CC7-4198-84BC-5CE697C59214}"/>
              </a:ext>
            </a:extLst>
          </p:cNvPr>
          <p:cNvSpPr txBox="1"/>
          <p:nvPr/>
        </p:nvSpPr>
        <p:spPr>
          <a:xfrm>
            <a:off x="94289" y="2274362"/>
            <a:ext cx="2283150" cy="1854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50" dirty="0">
                <a:latin typeface="Libre Baskerville" panose="020B0604020202020204" charset="0"/>
              </a:rPr>
              <a:t>Oil and gas-power power plant in Massachusetts shown above. According to article, a Japan-based company in 2022 is seeking to repurpose it for offshore wind.</a:t>
            </a:r>
          </a:p>
          <a:p>
            <a:r>
              <a:rPr lang="en-US" sz="800" dirty="0">
                <a:latin typeface="Libre Baskerville" panose="020B0604020202020204" charset="0"/>
              </a:rPr>
              <a:t> </a:t>
            </a:r>
            <a:endParaRPr lang="en-US" sz="800" dirty="0">
              <a:solidFill>
                <a:srgbClr val="000000"/>
              </a:solidFill>
              <a:effectLst/>
              <a:latin typeface="Libre Baskerville" panose="020B0604020202020204" charset="0"/>
            </a:endParaRPr>
          </a:p>
          <a:p>
            <a:r>
              <a:rPr lang="en-US" sz="800" dirty="0">
                <a:solidFill>
                  <a:srgbClr val="000000"/>
                </a:solidFill>
                <a:effectLst/>
                <a:latin typeface="Libre Baskerville" panose="020B0604020202020204" charset="0"/>
              </a:rPr>
              <a:t>‌Image and article Source:</a:t>
            </a:r>
          </a:p>
          <a:p>
            <a:pPr marL="457200" indent="-457200"/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00000000000000000" pitchFamily="2" charset="0"/>
                <a:cs typeface="Times New Roman" panose="02020603050405020304" pitchFamily="18" charset="0"/>
              </a:rPr>
              <a:t>Mohl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00000000000000000" pitchFamily="2" charset="0"/>
                <a:cs typeface="Times New Roman" panose="02020603050405020304" pitchFamily="18" charset="0"/>
              </a:rPr>
              <a:t>, B. (2022, May 12). </a:t>
            </a:r>
            <a:r>
              <a:rPr kumimoji="0" lang="en-US" altLang="en-US" sz="75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00000000000000000" pitchFamily="2" charset="0"/>
                <a:cs typeface="Times New Roman" panose="02020603050405020304" pitchFamily="18" charset="0"/>
              </a:rPr>
              <a:t>Japanese firm has different plan for Cape power plants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00000000000000000" pitchFamily="2" charset="0"/>
                <a:cs typeface="Times New Roman" panose="02020603050405020304" pitchFamily="18" charset="0"/>
              </a:rPr>
              <a:t>. </a:t>
            </a:r>
            <a:r>
              <a:rPr kumimoji="0" lang="en-US" altLang="en-US" sz="75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00000000000000000" pitchFamily="2" charset="0"/>
                <a:cs typeface="Times New Roman" panose="02020603050405020304" pitchFamily="18" charset="0"/>
              </a:rPr>
              <a:t>CommonWealth</a:t>
            </a:r>
            <a:r>
              <a:rPr kumimoji="0" lang="en-US" altLang="en-US" sz="7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ibre Baskerville" panose="02000000000000000000" pitchFamily="2" charset="0"/>
                <a:cs typeface="Times New Roman" panose="02020603050405020304" pitchFamily="18" charset="0"/>
              </a:rPr>
              <a:t> Beacon. https://commonwealthbeacon.org/uncategorized/japanese-firm-has-different-plan-for-cape-power-plants/</a:t>
            </a:r>
            <a:endParaRPr kumimoji="0" lang="en-US" altLang="en-US" sz="75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ibre Baskerville" panose="02000000000000000000" pitchFamily="2" charset="0"/>
            </a:endParaRPr>
          </a:p>
          <a:p>
            <a:endParaRPr lang="en-US" sz="800" dirty="0">
              <a:solidFill>
                <a:srgbClr val="000000"/>
              </a:solidFill>
              <a:effectLst/>
              <a:latin typeface="Libre Baskerville" panose="020B0604020202020204" charset="0"/>
            </a:endParaRPr>
          </a:p>
          <a:p>
            <a:endParaRPr lang="en-US" sz="800" dirty="0">
              <a:solidFill>
                <a:srgbClr val="000000"/>
              </a:solidFill>
              <a:effectLst/>
              <a:latin typeface="Libre Baskervill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4344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B86D7CC-E8A6-4CED-9706-4F6C42BB1F69}"/>
              </a:ext>
            </a:extLst>
          </p:cNvPr>
          <p:cNvSpPr txBox="1"/>
          <p:nvPr/>
        </p:nvSpPr>
        <p:spPr>
          <a:xfrm>
            <a:off x="828950" y="1663809"/>
            <a:ext cx="74861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/>
            <a:r>
              <a:rPr lang="en-US" sz="2800" u="sng" dirty="0">
                <a:latin typeface="Libre Baskerville" panose="020B0604020202020204" charset="0"/>
              </a:rPr>
              <a:t>Post-Presentation Feedback B: </a:t>
            </a:r>
          </a:p>
          <a:p>
            <a:pPr lvl="1" algn="ctr"/>
            <a:r>
              <a:rPr lang="en-US" sz="2800" dirty="0">
                <a:latin typeface="Libre Baskerville" panose="020B0604020202020204" charset="0"/>
              </a:rPr>
              <a:t>Include seasonal effects (seasonality), increase data range to 10-year trends, Climate Change, or COVID-19 impacts</a:t>
            </a:r>
          </a:p>
        </p:txBody>
      </p:sp>
    </p:spTree>
    <p:extLst>
      <p:ext uri="{BB962C8B-B14F-4D97-AF65-F5344CB8AC3E}">
        <p14:creationId xmlns:p14="http://schemas.microsoft.com/office/powerpoint/2010/main" val="35994234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>
          <a:extLst>
            <a:ext uri="{FF2B5EF4-FFF2-40B4-BE49-F238E27FC236}">
              <a16:creationId xmlns:a16="http://schemas.microsoft.com/office/drawing/2014/main" id="{C9E38B70-DA3F-850A-576D-DA3CDC992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29;p75">
            <a:extLst>
              <a:ext uri="{FF2B5EF4-FFF2-40B4-BE49-F238E27FC236}">
                <a16:creationId xmlns:a16="http://schemas.microsoft.com/office/drawing/2014/main" id="{6151F8F2-93BD-5A33-81FE-91AE76594185}"/>
              </a:ext>
            </a:extLst>
          </p:cNvPr>
          <p:cNvSpPr txBox="1"/>
          <p:nvPr/>
        </p:nvSpPr>
        <p:spPr>
          <a:xfrm>
            <a:off x="3555998" y="0"/>
            <a:ext cx="5588002" cy="5786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 dirty="0"/>
              <a:t>(Part </a:t>
            </a:r>
            <a:r>
              <a:rPr lang="en-US" b="1" dirty="0" err="1"/>
              <a:t>i</a:t>
            </a:r>
            <a:r>
              <a:rPr lang="en-US" b="1" dirty="0"/>
              <a:t>) Response Feedback – Why 10-year trend is not possible</a:t>
            </a:r>
            <a:endParaRPr lang="en-US" dirty="0"/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Data Availability Constraint</a:t>
            </a:r>
            <a:r>
              <a:rPr lang="en-US" dirty="0"/>
              <a:t>: This study relies on a comparative analysis between Massachusetts and Minnesota. Currently, the Minnesota Department of Health data portal is </a:t>
            </a:r>
            <a:r>
              <a:rPr lang="en-US" b="1" dirty="0"/>
              <a:t>offline</a:t>
            </a:r>
            <a:r>
              <a:rPr lang="en-US" dirty="0"/>
              <a:t>, making a retrospective comparison impossible for this final submission.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"ICD-10" Structural Break:</a:t>
            </a:r>
            <a:r>
              <a:rPr lang="en-US" dirty="0"/>
              <a:t> Even if data were available as Massachusetts data portal shows, comparing pre-2015 and post-2015 data is statistically invalid due to the October 2015 transition from </a:t>
            </a:r>
            <a:r>
              <a:rPr lang="en-US" b="1" dirty="0"/>
              <a:t>ICD-9 to ICD-10 medical coding standards</a:t>
            </a:r>
            <a:r>
              <a:rPr lang="en-US" dirty="0"/>
              <a:t>. This creates a "History Threat" to validity.</a:t>
            </a:r>
          </a:p>
          <a:p>
            <a:endParaRPr lang="en-US" b="1" dirty="0"/>
          </a:p>
          <a:p>
            <a:r>
              <a:rPr lang="en-US" b="1" dirty="0"/>
              <a:t>Evidence: The Coding Incompatibility (CDC, 2019)</a:t>
            </a:r>
          </a:p>
          <a:p>
            <a:pPr marL="342900" lvl="8" indent="-342900">
              <a:buFont typeface="+mj-lt"/>
              <a:buAutoNum type="arabicPeriod"/>
            </a:pPr>
            <a:r>
              <a:rPr lang="en-US" i="1" dirty="0"/>
              <a:t>ICD-9 (Pre-2015):</a:t>
            </a:r>
            <a:r>
              <a:rPr lang="en-US" dirty="0"/>
              <a:t> Stratified by trigger (e.g., Extrinsic vs. Intrinsic). Asthma with COPD was often included in the primary asthma count.</a:t>
            </a:r>
          </a:p>
          <a:p>
            <a:pPr marL="342900" lvl="8" indent="-342900">
              <a:buFont typeface="+mj-lt"/>
              <a:buAutoNum type="arabicPeriod"/>
            </a:pPr>
            <a:r>
              <a:rPr lang="en-US" i="1" dirty="0"/>
              <a:t>ICD-10 (Current):</a:t>
            </a:r>
            <a:r>
              <a:rPr lang="en-US" dirty="0"/>
              <a:t> Stratified by severity (e.g., Mild Intermittent vs. Severe Persistent). These conditions are </a:t>
            </a:r>
            <a:r>
              <a:rPr lang="en-US" b="1" dirty="0"/>
              <a:t>coded separately.</a:t>
            </a:r>
          </a:p>
          <a:p>
            <a:pPr lvl="8"/>
            <a:endParaRPr lang="en-US" dirty="0"/>
          </a:p>
          <a:p>
            <a:pPr lvl="1"/>
            <a:r>
              <a:rPr lang="en-US" b="1" i="1" dirty="0"/>
              <a:t>Result</a:t>
            </a:r>
            <a:r>
              <a:rPr lang="en-US" i="1" dirty="0"/>
              <a:t>:</a:t>
            </a:r>
            <a:r>
              <a:rPr lang="en-US" dirty="0"/>
              <a:t> Comparing the two periods would show a sharp increase or drop of asthma rates simply because coding definitions became different, not because air quality suddenly changed in 2016.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C3FAD-67B1-9024-04B8-E9718AF84D3E}"/>
              </a:ext>
            </a:extLst>
          </p:cNvPr>
          <p:cNvSpPr txBox="1"/>
          <p:nvPr/>
        </p:nvSpPr>
        <p:spPr>
          <a:xfrm>
            <a:off x="0" y="4115526"/>
            <a:ext cx="3379304" cy="12711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Libre Baskerville" panose="020B0604020202020204" charset="0"/>
              </a:rPr>
              <a:t>Map Source:</a:t>
            </a:r>
          </a:p>
          <a:p>
            <a:pPr marL="457200" indent="-457200"/>
            <a:r>
              <a:rPr lang="en-US" sz="1100" i="1" dirty="0"/>
              <a:t>ICD-9-CM to ICD-10-CM Conversion | CDC</a:t>
            </a:r>
            <a:r>
              <a:rPr lang="en-US" sz="1100" dirty="0"/>
              <a:t>. (2019, November 4). Www.cdc.gov. https://www.cdc.gov/asthma/data-analysis-guidance/ICD-9-CM-ICD-10-CM.htm</a:t>
            </a:r>
          </a:p>
          <a:p>
            <a:r>
              <a:rPr lang="en-US" dirty="0"/>
              <a:t>‌</a:t>
            </a:r>
          </a:p>
          <a:p>
            <a:pPr marL="457200" indent="-457200"/>
            <a:endParaRPr kumimoji="0" lang="en-US" altLang="en-US" sz="76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ibre Baskerville" panose="020B060402020202020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5DDE7-9D20-7EE0-B832-0842EFC8A9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89"/>
          <a:stretch>
            <a:fillRect/>
          </a:stretch>
        </p:blipFill>
        <p:spPr>
          <a:xfrm>
            <a:off x="89089" y="384469"/>
            <a:ext cx="3290215" cy="55185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73BB1C-E63A-EA36-7715-10DE6067ACB9}"/>
              </a:ext>
            </a:extLst>
          </p:cNvPr>
          <p:cNvSpPr txBox="1"/>
          <p:nvPr/>
        </p:nvSpPr>
        <p:spPr>
          <a:xfrm>
            <a:off x="89089" y="965960"/>
            <a:ext cx="2401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Libre Baskerville" panose="020B060402020202020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200" dirty="0">
                <a:latin typeface="Libre Baskerville" panose="020B0604020202020204" charset="0"/>
              </a:rPr>
              <a:t> to Minnesota health data portal website</a:t>
            </a:r>
            <a:endParaRPr lang="en-US" sz="1200" dirty="0">
              <a:solidFill>
                <a:srgbClr val="000000"/>
              </a:solidFill>
              <a:effectLst/>
              <a:latin typeface="Libre Baskerville" panose="020B060402020202020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14AAE5F-5B26-CFC7-CC80-05D42479C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89" y="1728911"/>
            <a:ext cx="2585232" cy="168567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D2B531A-FCD8-C237-92E7-D7BC83164761}"/>
              </a:ext>
            </a:extLst>
          </p:cNvPr>
          <p:cNvSpPr txBox="1"/>
          <p:nvPr/>
        </p:nvSpPr>
        <p:spPr>
          <a:xfrm>
            <a:off x="89089" y="3485041"/>
            <a:ext cx="24012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2060"/>
                </a:solidFill>
                <a:latin typeface="Libre Baskerville" panose="020B060402020202020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-US" sz="1200" dirty="0">
                <a:latin typeface="Libre Baskerville" panose="020B0604020202020204" charset="0"/>
              </a:rPr>
              <a:t> to Massachusetts health data portal website</a:t>
            </a:r>
            <a:endParaRPr lang="en-US" sz="1200" dirty="0">
              <a:solidFill>
                <a:srgbClr val="000000"/>
              </a:solidFill>
              <a:effectLst/>
              <a:latin typeface="Libre Baskervill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05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>
          <a:extLst>
            <a:ext uri="{FF2B5EF4-FFF2-40B4-BE49-F238E27FC236}">
              <a16:creationId xmlns:a16="http://schemas.microsoft.com/office/drawing/2014/main" id="{F5FFB570-95E6-F1E7-D067-1BF4F7EC5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629;p75">
            <a:extLst>
              <a:ext uri="{FF2B5EF4-FFF2-40B4-BE49-F238E27FC236}">
                <a16:creationId xmlns:a16="http://schemas.microsoft.com/office/drawing/2014/main" id="{94B9F7EE-90E2-6DA3-0472-2DB581411B06}"/>
              </a:ext>
            </a:extLst>
          </p:cNvPr>
          <p:cNvSpPr txBox="1"/>
          <p:nvPr/>
        </p:nvSpPr>
        <p:spPr>
          <a:xfrm>
            <a:off x="3657600" y="0"/>
            <a:ext cx="5486400" cy="5139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b="1" dirty="0"/>
              <a:t>(Part ii) Feedback Response – Control Variables &amp; Data Scope:</a:t>
            </a:r>
          </a:p>
          <a:p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Seasonality:</a:t>
            </a:r>
            <a:r>
              <a:rPr lang="en-US" dirty="0"/>
              <a:t> Seasonal dummy variables could not be used because the asthma data is aggregated annually and not reported by year and quarter, thus eliminating possibility.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dirty="0"/>
              <a:t>In replacement of seasonality, I controlled unobserved factors over time with a linear time trend (t = 1, 2, 3, 4) by year. </a:t>
            </a:r>
            <a:r>
              <a:rPr lang="en-US" b="1" dirty="0"/>
              <a:t>Finding:</a:t>
            </a:r>
            <a:r>
              <a:rPr lang="en-US" dirty="0"/>
              <a:t> The time trend was statistically insignificant (p&gt;0.05) in both models, indicating that asthma rates were stable over the 2016–2019 period and not driven by another trend.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COVID-19 Exclusion:</a:t>
            </a:r>
            <a:r>
              <a:rPr lang="en-US" dirty="0"/>
              <a:t> Years 2020–2021 were deliberately excluded to avoid a structural break in the data as the pandemic fundamentally altered everyday operations  and hospital utilization, which </a:t>
            </a:r>
            <a:r>
              <a:rPr lang="en-US" b="1" dirty="0"/>
              <a:t>would bias the AQI outcomes </a:t>
            </a:r>
            <a:r>
              <a:rPr lang="en-US" dirty="0"/>
              <a:t>and asthma relationships observed in normal years. If year 2022, 2023, and 2024 were also available to pull from, then it would allow for a comparison between “normal” and “covid” years.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Climate Change:</a:t>
            </a:r>
            <a:r>
              <a:rPr lang="en-US" dirty="0"/>
              <a:t> Climate change impacts require decades-scale data. As this dataset covers only a short-term period (4 years), analyzing long-term shifts was considered out of scope.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B25494-BFAF-D37D-D993-D3B4C0A4ED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33913"/>
              </p:ext>
            </p:extLst>
          </p:nvPr>
        </p:nvGraphicFramePr>
        <p:xfrm>
          <a:off x="101474" y="598226"/>
          <a:ext cx="3277830" cy="221044"/>
        </p:xfrm>
        <a:graphic>
          <a:graphicData uri="http://schemas.openxmlformats.org/drawingml/2006/table">
            <a:tbl>
              <a:tblPr>
                <a:tableStyleId>{CBF4B55C-8345-4DD8-B79B-B648E53378B2}</a:tableStyleId>
              </a:tblPr>
              <a:tblGrid>
                <a:gridCol w="3277830">
                  <a:extLst>
                    <a:ext uri="{9D8B030D-6E8A-4147-A177-3AD203B41FA5}">
                      <a16:colId xmlns:a16="http://schemas.microsoft.com/office/drawing/2014/main" val="2400207507"/>
                    </a:ext>
                  </a:extLst>
                </a:gridCol>
              </a:tblGrid>
              <a:tr h="18934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1" u="none" strike="noStrike" dirty="0">
                          <a:effectLst/>
                          <a:latin typeface="Libre Baskerville" panose="02000000000000000000" pitchFamily="2" charset="0"/>
                        </a:rPr>
                        <a:t>(Part I) Hospitalizations</a:t>
                      </a:r>
                      <a:endParaRPr lang="en-US" sz="1400" b="1" i="1" u="none" strike="noStrike" dirty="0">
                        <a:solidFill>
                          <a:srgbClr val="000000"/>
                        </a:solidFill>
                        <a:effectLst/>
                        <a:latin typeface="Libre Baskerville" panose="02000000000000000000" pitchFamily="2" charset="0"/>
                      </a:endParaRPr>
                    </a:p>
                  </a:txBody>
                  <a:tcPr marL="7684" marR="7684" marT="7684" marB="0" anchor="b"/>
                </a:tc>
                <a:extLst>
                  <a:ext uri="{0D108BD9-81ED-4DB2-BD59-A6C34878D82A}">
                    <a16:rowId xmlns:a16="http://schemas.microsoft.com/office/drawing/2014/main" val="329779356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E302C2-D1EA-4BDF-F045-8CD224ED08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962041"/>
              </p:ext>
            </p:extLst>
          </p:nvPr>
        </p:nvGraphicFramePr>
        <p:xfrm>
          <a:off x="101474" y="2936306"/>
          <a:ext cx="3277830" cy="230505"/>
        </p:xfrm>
        <a:graphic>
          <a:graphicData uri="http://schemas.openxmlformats.org/drawingml/2006/table">
            <a:tbl>
              <a:tblPr>
                <a:tableStyleId>{CBF4B55C-8345-4DD8-B79B-B648E53378B2}</a:tableStyleId>
              </a:tblPr>
              <a:tblGrid>
                <a:gridCol w="3277830">
                  <a:extLst>
                    <a:ext uri="{9D8B030D-6E8A-4147-A177-3AD203B41FA5}">
                      <a16:colId xmlns:a16="http://schemas.microsoft.com/office/drawing/2014/main" val="2400207507"/>
                    </a:ext>
                  </a:extLst>
                </a:gridCol>
              </a:tblGrid>
              <a:tr h="230505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b="1" i="1" u="none" strike="noStrike" dirty="0">
                          <a:solidFill>
                            <a:srgbClr val="000000"/>
                          </a:solidFill>
                          <a:effectLst/>
                          <a:latin typeface="Libre Baskerville" panose="02000000000000000000" pitchFamily="2" charset="0"/>
                        </a:rPr>
                        <a:t>(Part II) Emergency Visits</a:t>
                      </a:r>
                    </a:p>
                  </a:txBody>
                  <a:tcPr marL="7684" marR="7684" marT="7684" marB="0" anchor="b"/>
                </a:tc>
                <a:extLst>
                  <a:ext uri="{0D108BD9-81ED-4DB2-BD59-A6C34878D82A}">
                    <a16:rowId xmlns:a16="http://schemas.microsoft.com/office/drawing/2014/main" val="3297793561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90E7A0F6-D046-8C93-F492-13E99884BF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90" y="1061372"/>
            <a:ext cx="3381197" cy="13502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4FA18B-8F1C-2DD8-7F42-8EFAC7D22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90" y="3406983"/>
            <a:ext cx="3432881" cy="136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548648"/>
      </p:ext>
    </p:extLst>
  </p:cSld>
  <p:clrMapOvr>
    <a:masterClrMapping/>
  </p:clrMapOvr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E3E7F0"/>
      </a:lt1>
      <a:dk2>
        <a:srgbClr val="000000"/>
      </a:dk2>
      <a:lt2>
        <a:srgbClr val="E3E7F0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2422</Words>
  <Application>Microsoft Office PowerPoint</Application>
  <PresentationFormat>On-screen Show (16:9)</PresentationFormat>
  <Paragraphs>240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3" baseType="lpstr">
      <vt:lpstr>Vidaloka</vt:lpstr>
      <vt:lpstr>Open Sans</vt:lpstr>
      <vt:lpstr>Mako</vt:lpstr>
      <vt:lpstr>Crimson Text</vt:lpstr>
      <vt:lpstr>Open Sans SemiBold</vt:lpstr>
      <vt:lpstr>Lato</vt:lpstr>
      <vt:lpstr>Merriweather Light</vt:lpstr>
      <vt:lpstr>Russo One</vt:lpstr>
      <vt:lpstr>Montserrat</vt:lpstr>
      <vt:lpstr>Libre Baskerville</vt:lpstr>
      <vt:lpstr>Arial</vt:lpstr>
      <vt:lpstr>Josefin Sans</vt:lpstr>
      <vt:lpstr>Minimalist Business Slides XL by Slidesgo</vt:lpstr>
      <vt:lpstr>Does Poor Air Quality Increase Asthma Rates? A case study on counties of Minnesota and Massachusetts</vt:lpstr>
      <vt:lpstr>Methodology: The AQI Index</vt:lpstr>
      <vt:lpstr>Study Focus</vt:lpstr>
      <vt:lpstr>Why These States &amp; Data?</vt:lpstr>
      <vt:lpstr>Descriptive Table</vt:lpstr>
      <vt:lpstr>Statistical Model &amp; Hypothesis</vt:lpstr>
      <vt:lpstr>Why Only AQI as Predictor?</vt:lpstr>
      <vt:lpstr>Exploratory MA County-Level Insights</vt:lpstr>
      <vt:lpstr>Emergency Visits vs. AQI</vt:lpstr>
      <vt:lpstr>Hospitalization Visits vs. AQI</vt:lpstr>
      <vt:lpstr>Summary &amp; Interpretation </vt:lpstr>
      <vt:lpstr>PowerPoint Presentation</vt:lpstr>
      <vt:lpstr>PowerPoint Presentation</vt:lpstr>
      <vt:lpstr>PowerPoint Presentation</vt:lpstr>
      <vt:lpstr>Asthma Emergency Visits Revisited</vt:lpstr>
      <vt:lpstr>Asthma Hospitalization Revisited</vt:lpstr>
      <vt:lpstr>PowerPoint Presentation</vt:lpstr>
      <vt:lpstr>Final 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Poor Air Quality Increase Asthma Rates? A case study on counties of Minnesota and Massachusetts</dc:title>
  <cp:lastModifiedBy>Anthony zhong</cp:lastModifiedBy>
  <cp:revision>22</cp:revision>
  <dcterms:modified xsi:type="dcterms:W3CDTF">2025-12-16T06:34:05Z</dcterms:modified>
</cp:coreProperties>
</file>