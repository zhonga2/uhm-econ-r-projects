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932bfc01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932bfc01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32bfc0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32bfc0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4417e8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4417e8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932bfc01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932bfc01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932bfc01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932bfc01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94417e82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94417e82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434343"/>
                </a:solidFill>
              </a:rPr>
              <a:t>Does Poor Air Quality Increase Asthma Rates? Data Analysis of 2 U.S. States and Counties</a:t>
            </a:r>
            <a:endParaRPr b="1" sz="4400">
              <a:solidFill>
                <a:srgbClr val="434343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93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Name: Anthony Zhong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University of Hawaii at Manoa – </a:t>
            </a:r>
            <a:r>
              <a:rPr lang="en" sz="2000"/>
              <a:t>ECON 429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Instructor: Ashley Lowe Mackenzie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Date: October 5th, 2025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99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14275"/>
            <a:ext cx="8520600" cy="3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Air Quality Overview</a:t>
            </a:r>
            <a:endParaRPr b="1" sz="2800">
              <a:solidFill>
                <a:schemeClr val="dk1"/>
              </a:solidFill>
            </a:endParaRPr>
          </a:p>
          <a:p>
            <a:pPr indent="-3130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Air quality is measured as an index ranging from 0 - 100, where higher values indicate worser conditions</a:t>
            </a:r>
            <a:endParaRPr sz="2800">
              <a:solidFill>
                <a:schemeClr val="dk1"/>
              </a:solidFill>
            </a:endParaRPr>
          </a:p>
          <a:p>
            <a:pPr indent="-3130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The index includes pollutants such as particulate matter (PM2.5)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Focus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Examines asthma-related hospitalization and emergency room visits (per 10,000 people, ages 5-64) to explore the relationship between air quality and asthma</a:t>
            </a:r>
            <a:endParaRPr sz="2800">
              <a:solidFill>
                <a:schemeClr val="dk1"/>
              </a:solidFill>
            </a:endParaRPr>
          </a:p>
          <a:p>
            <a:pPr indent="-3130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Hospitalizations: how often asthma flares become </a:t>
            </a:r>
            <a:r>
              <a:rPr b="1" lang="en" sz="2800">
                <a:solidFill>
                  <a:schemeClr val="dk1"/>
                </a:solidFill>
              </a:rPr>
              <a:t>life-threatening</a:t>
            </a:r>
            <a:endParaRPr b="1" sz="2800">
              <a:solidFill>
                <a:schemeClr val="dk1"/>
              </a:solidFill>
            </a:endParaRPr>
          </a:p>
          <a:p>
            <a:pPr indent="-3145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Emergency visits show how often asthma flares occur </a:t>
            </a:r>
            <a:r>
              <a:rPr b="1" lang="en" sz="2850">
                <a:solidFill>
                  <a:schemeClr val="dk1"/>
                </a:solidFill>
              </a:rPr>
              <a:t>suddenly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b="1" lang="en" sz="2850">
                <a:solidFill>
                  <a:schemeClr val="dk1"/>
                </a:solidFill>
              </a:rPr>
              <a:t>Data Collected</a:t>
            </a:r>
            <a:endParaRPr b="1" sz="2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en" sz="2850">
                <a:solidFill>
                  <a:schemeClr val="dk1"/>
                </a:solidFill>
              </a:rPr>
              <a:t>Focus on comprehensive data provided by U.S EPA, U.S CDC, and DoH from the state of Massachusetts and Minnesota</a:t>
            </a: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Availability of county-level Asthma Data</a:t>
            </a: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Ease of public data assess and cleaning</a:t>
            </a: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Includes county population column</a:t>
            </a:r>
            <a:endParaRPr sz="2850">
              <a:solidFill>
                <a:schemeClr val="dk1"/>
              </a:solidFill>
            </a:endParaRPr>
          </a:p>
          <a:p>
            <a:pPr indent="-31456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50">
                <a:solidFill>
                  <a:schemeClr val="dk1"/>
                </a:solidFill>
              </a:rPr>
              <a:t>Reliable sources that collect through satellite</a:t>
            </a:r>
            <a:endParaRPr sz="2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20140" l="0" r="0" t="0"/>
          <a:stretch/>
        </p:blipFill>
        <p:spPr>
          <a:xfrm>
            <a:off x="189625" y="693525"/>
            <a:ext cx="8839200" cy="32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152400" y="172425"/>
            <a:ext cx="6602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Table with Data-Ink Ratio Design Theory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46275" y="4013325"/>
            <a:ext cx="49275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2"/>
                </a:solidFill>
              </a:rPr>
              <a:t>Categorical</a:t>
            </a:r>
            <a:r>
              <a:rPr lang="en" sz="1200">
                <a:solidFill>
                  <a:schemeClr val="dk2"/>
                </a:solidFill>
              </a:rPr>
              <a:t>: State, County, and Year (Ordinal)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2"/>
                </a:solidFill>
              </a:rPr>
              <a:t>Quantitative (Discrete)</a:t>
            </a:r>
            <a:r>
              <a:rPr lang="en" sz="1200">
                <a:solidFill>
                  <a:schemeClr val="dk2"/>
                </a:solidFill>
              </a:rPr>
              <a:t>:  Moderate Day, Unhealthy Days, </a:t>
            </a:r>
            <a:r>
              <a:rPr lang="en" sz="1200">
                <a:solidFill>
                  <a:schemeClr val="dk2"/>
                </a:solidFill>
              </a:rPr>
              <a:t>Hazardous</a:t>
            </a:r>
            <a:r>
              <a:rPr lang="en" sz="1200">
                <a:solidFill>
                  <a:schemeClr val="dk2"/>
                </a:solidFill>
              </a:rPr>
              <a:t> Days, Median AQI, Days PM2.5, Days PM10, Census Population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2"/>
                </a:solidFill>
              </a:rPr>
              <a:t>Quantitative (</a:t>
            </a:r>
            <a:r>
              <a:rPr lang="en" sz="1200" u="sng">
                <a:solidFill>
                  <a:schemeClr val="dk2"/>
                </a:solidFill>
              </a:rPr>
              <a:t>Continuous</a:t>
            </a:r>
            <a:r>
              <a:rPr lang="en" sz="1200" u="sng">
                <a:solidFill>
                  <a:schemeClr val="dk2"/>
                </a:solidFill>
              </a:rPr>
              <a:t>)</a:t>
            </a:r>
            <a:r>
              <a:rPr lang="en" sz="1200">
                <a:solidFill>
                  <a:schemeClr val="dk2"/>
                </a:solidFill>
              </a:rPr>
              <a:t>: Age-Adjusted Rates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25" y="176600"/>
            <a:ext cx="5252250" cy="24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725" y="611825"/>
            <a:ext cx="3594425" cy="37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676" y="2693575"/>
            <a:ext cx="3839787" cy="24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5" y="428000"/>
            <a:ext cx="4648825" cy="349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675" y="145125"/>
            <a:ext cx="4403325" cy="2503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5175" y="2710700"/>
            <a:ext cx="3622276" cy="238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7494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